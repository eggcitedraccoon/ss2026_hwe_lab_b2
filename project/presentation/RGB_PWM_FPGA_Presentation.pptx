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notesMasterIdLst>
    <p:notesMasterId r:id="rId12"/>
  </p:notesMasterIdLst>
  <p:handoutMasterIdLst>
    <p:handoutMasterId r:id="rId13"/>
  </p:handoutMasterIdLst>
  <p:sldIdLst>
    <p:sldId id="258" r:id="rId2"/>
    <p:sldId id="260" r:id="rId3"/>
    <p:sldId id="261" r:id="rId4"/>
    <p:sldId id="264" r:id="rId5"/>
    <p:sldId id="267" r:id="rId6"/>
    <p:sldId id="259" r:id="rId7"/>
    <p:sldId id="266" r:id="rId8"/>
    <p:sldId id="262" r:id="rId9"/>
    <p:sldId id="263" r:id="rId10"/>
    <p:sldId id="265" r:id="rId11"/>
  </p:sldIdLst>
  <p:sldSz cx="9144000" cy="6858000" type="screen4x3"/>
  <p:notesSz cx="6797675" cy="9926638"/>
  <p:defaultTextStyle>
    <a:defPPr>
      <a:defRPr lang="de-DE"/>
    </a:defPPr>
    <a:lvl1pPr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1pPr>
    <a:lvl2pPr marL="4572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2pPr>
    <a:lvl3pPr marL="9144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3pPr>
    <a:lvl4pPr marL="13716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4pPr>
    <a:lvl5pPr marL="18288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orient="horz" pos="1049">
          <p15:clr>
            <a:srgbClr val="A4A3A4"/>
          </p15:clr>
        </p15:guide>
        <p15:guide id="3" orient="horz" pos="4156">
          <p15:clr>
            <a:srgbClr val="A4A3A4"/>
          </p15:clr>
        </p15:guide>
        <p15:guide id="4" orient="horz" pos="1525">
          <p15:clr>
            <a:srgbClr val="A4A3A4"/>
          </p15:clr>
        </p15:guide>
        <p15:guide id="5" orient="horz" pos="2704">
          <p15:clr>
            <a:srgbClr val="A4A3A4"/>
          </p15:clr>
        </p15:guide>
        <p15:guide id="6" orient="horz" pos="1842">
          <p15:clr>
            <a:srgbClr val="A4A3A4"/>
          </p15:clr>
        </p15:guide>
        <p15:guide id="7" orient="horz" pos="3475">
          <p15:clr>
            <a:srgbClr val="A4A3A4"/>
          </p15:clr>
        </p15:guide>
        <p15:guide id="8" orient="horz" pos="845">
          <p15:clr>
            <a:srgbClr val="A4A3A4"/>
          </p15:clr>
        </p15:guide>
        <p15:guide id="9" pos="3742">
          <p15:clr>
            <a:srgbClr val="A4A3A4"/>
          </p15:clr>
        </p15:guide>
        <p15:guide id="10" pos="2608">
          <p15:clr>
            <a:srgbClr val="A4A3A4"/>
          </p15:clr>
        </p15:guide>
        <p15:guide id="11" pos="1474">
          <p15:clr>
            <a:srgbClr val="A4A3A4"/>
          </p15:clr>
        </p15:guide>
        <p15:guide id="12" pos="340">
          <p15:clr>
            <a:srgbClr val="A4A3A4"/>
          </p15:clr>
        </p15:guide>
        <p15:guide id="13" pos="3515">
          <p15:clr>
            <a:srgbClr val="A4A3A4"/>
          </p15:clr>
        </p15:guide>
        <p15:guide id="14" pos="38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0FF"/>
    <a:srgbClr val="FF6621"/>
    <a:srgbClr val="7E4200"/>
    <a:srgbClr val="001E87"/>
    <a:srgbClr val="666699"/>
    <a:srgbClr val="800000"/>
    <a:srgbClr val="99CC00"/>
    <a:srgbClr val="993300"/>
    <a:srgbClr val="0021AC"/>
    <a:srgbClr val="001C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4" autoAdjust="0"/>
    <p:restoredTop sz="96340" autoAdjust="0"/>
  </p:normalViewPr>
  <p:slideViewPr>
    <p:cSldViewPr>
      <p:cViewPr varScale="1">
        <p:scale>
          <a:sx n="82" d="100"/>
          <a:sy n="82" d="100"/>
        </p:scale>
        <p:origin x="84" y="690"/>
      </p:cViewPr>
      <p:guideLst>
        <p:guide orient="horz" pos="595"/>
        <p:guide orient="horz" pos="1049"/>
        <p:guide orient="horz" pos="4156"/>
        <p:guide orient="horz" pos="1525"/>
        <p:guide orient="horz" pos="2704"/>
        <p:guide orient="horz" pos="1842"/>
        <p:guide orient="horz" pos="3475"/>
        <p:guide orient="horz" pos="845"/>
        <p:guide pos="3742"/>
        <p:guide pos="2608"/>
        <p:guide pos="1474"/>
        <p:guide pos="340"/>
        <p:guide pos="3515"/>
        <p:guide pos="38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2730" y="-120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30" name="Rectangle 1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44179" y="76987"/>
            <a:ext cx="4853528" cy="26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600" b="1">
                <a:solidFill>
                  <a:schemeClr val="tx1"/>
                </a:solidFill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r>
              <a:rPr lang="de-DE"/>
              <a:t>OFFIS</a:t>
            </a:r>
          </a:p>
        </p:txBody>
      </p:sp>
      <p:sp>
        <p:nvSpPr>
          <p:cNvPr id="86031" name="Rectangle 15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179" y="338741"/>
            <a:ext cx="4853528" cy="22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100"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fld id="{4E0C06B7-C559-4809-80E3-2886171D3968}" type="datetime1">
              <a:rPr lang="de-DE" smtClean="0"/>
              <a:t>02.07.2026</a:t>
            </a:fld>
            <a:endParaRPr lang="de-DE"/>
          </a:p>
        </p:txBody>
      </p:sp>
      <p:sp>
        <p:nvSpPr>
          <p:cNvPr id="39940" name="Rectangle 16"/>
          <p:cNvSpPr>
            <a:spLocks noChangeArrowheads="1"/>
          </p:cNvSpPr>
          <p:nvPr/>
        </p:nvSpPr>
        <p:spPr bwMode="auto">
          <a:xfrm>
            <a:off x="595861" y="9684900"/>
            <a:ext cx="5657636" cy="16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ct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</a:pPr>
            <a:endParaRPr lang="en-US" sz="1100">
              <a:ea typeface="ヒラギノ角ゴ Pro W3" pitchFamily="96" charset="-128"/>
            </a:endParaRPr>
          </a:p>
        </p:txBody>
      </p:sp>
      <p:sp>
        <p:nvSpPr>
          <p:cNvPr id="39941" name="Rectangle 17"/>
          <p:cNvSpPr>
            <a:spLocks noChangeArrowheads="1"/>
          </p:cNvSpPr>
          <p:nvPr/>
        </p:nvSpPr>
        <p:spPr bwMode="auto">
          <a:xfrm>
            <a:off x="0" y="76987"/>
            <a:ext cx="472737" cy="26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</a:pPr>
            <a:fld id="{275B9C72-3485-48FF-AE1D-FB71FC7FF0C6}" type="slidenum">
              <a:rPr lang="de-DE" b="1">
                <a:ea typeface="ヒラギノ角ゴ Pro W3" pitchFamily="96" charset="-128"/>
              </a:rPr>
              <a:pPr algn="r" defTabSz="955731" eaLnBrk="0" hangingPunct="0">
                <a:lnSpc>
                  <a:spcPct val="100000"/>
                </a:lnSpc>
                <a:spcAft>
                  <a:spcPct val="0"/>
                </a:spcAft>
                <a:buClrTx/>
                <a:buSzTx/>
              </a:pPr>
              <a:t>‹#›</a:t>
            </a:fld>
            <a:endParaRPr lang="de-DE" b="1">
              <a:ea typeface="ヒラギノ角ゴ Pro W3" pitchFamily="96" charset="-128"/>
            </a:endParaRPr>
          </a:p>
        </p:txBody>
      </p:sp>
      <p:sp>
        <p:nvSpPr>
          <p:cNvPr id="39942" name="Line 18"/>
          <p:cNvSpPr>
            <a:spLocks noChangeShapeType="1"/>
          </p:cNvSpPr>
          <p:nvPr/>
        </p:nvSpPr>
        <p:spPr bwMode="auto">
          <a:xfrm>
            <a:off x="0" y="76986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9943" name="AutoShape 19"/>
          <p:cNvSpPr>
            <a:spLocks noChangeAspect="1" noChangeArrowheads="1"/>
          </p:cNvSpPr>
          <p:nvPr/>
        </p:nvSpPr>
        <p:spPr bwMode="auto">
          <a:xfrm>
            <a:off x="-24321" y="109322"/>
            <a:ext cx="139845" cy="173989"/>
          </a:xfrm>
          <a:prstGeom prst="homePlate">
            <a:avLst>
              <a:gd name="adj" fmla="val 10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221" tIns="44111" rIns="88221" bIns="44111" anchor="ctr"/>
          <a:lstStyle/>
          <a:p>
            <a:endParaRPr lang="en-US"/>
          </a:p>
        </p:txBody>
      </p:sp>
      <p:sp>
        <p:nvSpPr>
          <p:cNvPr id="39944" name="Line 20"/>
          <p:cNvSpPr>
            <a:spLocks noChangeShapeType="1"/>
          </p:cNvSpPr>
          <p:nvPr/>
        </p:nvSpPr>
        <p:spPr bwMode="auto">
          <a:xfrm>
            <a:off x="0" y="548144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9945" name="Line 21"/>
          <p:cNvSpPr>
            <a:spLocks noChangeShapeType="1"/>
          </p:cNvSpPr>
          <p:nvPr/>
        </p:nvSpPr>
        <p:spPr bwMode="auto">
          <a:xfrm>
            <a:off x="0" y="9654105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pic>
        <p:nvPicPr>
          <p:cNvPr id="39946" name="Picture 22" descr="logo_standard_d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52"/>
          <a:stretch>
            <a:fillRect/>
          </a:stretch>
        </p:blipFill>
        <p:spPr bwMode="auto">
          <a:xfrm>
            <a:off x="5812681" y="123179"/>
            <a:ext cx="984994" cy="37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0710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64" y="4714653"/>
            <a:ext cx="5438748" cy="4466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44179" y="76987"/>
            <a:ext cx="4853528" cy="26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600" b="1">
                <a:solidFill>
                  <a:schemeClr val="tx1"/>
                </a:solidFill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r>
              <a:rPr lang="de-DE"/>
              <a:t>OFFIS</a:t>
            </a:r>
          </a:p>
        </p:txBody>
      </p:sp>
      <p:sp>
        <p:nvSpPr>
          <p:cNvPr id="4120" name="Rectangle 24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179" y="338741"/>
            <a:ext cx="4853528" cy="22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100"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fld id="{C7E54160-B116-4109-AA92-3860CE6317DD}" type="datetime1">
              <a:rPr lang="de-DE" smtClean="0"/>
              <a:t>02.07.2026</a:t>
            </a:fld>
            <a:endParaRPr lang="de-DE"/>
          </a:p>
        </p:txBody>
      </p:sp>
      <p:sp>
        <p:nvSpPr>
          <p:cNvPr id="37894" name="Rectangle 25"/>
          <p:cNvSpPr>
            <a:spLocks noChangeArrowheads="1"/>
          </p:cNvSpPr>
          <p:nvPr/>
        </p:nvSpPr>
        <p:spPr bwMode="auto">
          <a:xfrm>
            <a:off x="595861" y="9684900"/>
            <a:ext cx="5657636" cy="16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ct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sz="1100">
              <a:ea typeface="ヒラギノ角ゴ Pro W3" pitchFamily="96" charset="-128"/>
            </a:endParaRPr>
          </a:p>
        </p:txBody>
      </p:sp>
      <p:sp>
        <p:nvSpPr>
          <p:cNvPr id="37895" name="Rectangle 26"/>
          <p:cNvSpPr>
            <a:spLocks noChangeArrowheads="1"/>
          </p:cNvSpPr>
          <p:nvPr/>
        </p:nvSpPr>
        <p:spPr bwMode="auto">
          <a:xfrm>
            <a:off x="0" y="76987"/>
            <a:ext cx="472737" cy="26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fld id="{22320607-5AC0-4A66-9987-88F714D17AA0}" type="slidenum">
              <a:rPr lang="de-DE" sz="1600" b="1">
                <a:ea typeface="ヒラギノ角ゴ Pro W3" pitchFamily="96" charset="-128"/>
              </a:rPr>
              <a:pPr algn="r" defTabSz="955731" eaLnBrk="0" hangingPunct="0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t>‹#›</a:t>
            </a:fld>
            <a:endParaRPr lang="de-DE" sz="1600" b="1">
              <a:ea typeface="ヒラギノ角ゴ Pro W3" pitchFamily="96" charset="-128"/>
            </a:endParaRPr>
          </a:p>
        </p:txBody>
      </p:sp>
      <p:sp>
        <p:nvSpPr>
          <p:cNvPr id="37896" name="Line 27"/>
          <p:cNvSpPr>
            <a:spLocks noChangeShapeType="1"/>
          </p:cNvSpPr>
          <p:nvPr/>
        </p:nvSpPr>
        <p:spPr bwMode="auto">
          <a:xfrm>
            <a:off x="0" y="76986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7897" name="AutoShape 28"/>
          <p:cNvSpPr>
            <a:spLocks noChangeAspect="1" noChangeArrowheads="1"/>
          </p:cNvSpPr>
          <p:nvPr/>
        </p:nvSpPr>
        <p:spPr bwMode="auto">
          <a:xfrm>
            <a:off x="-24321" y="109322"/>
            <a:ext cx="139845" cy="173989"/>
          </a:xfrm>
          <a:prstGeom prst="homePlate">
            <a:avLst>
              <a:gd name="adj" fmla="val 10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221" tIns="44111" rIns="88221" bIns="44111" anchor="ctr"/>
          <a:lstStyle/>
          <a:p>
            <a:endParaRPr lang="en-US"/>
          </a:p>
        </p:txBody>
      </p:sp>
      <p:sp>
        <p:nvSpPr>
          <p:cNvPr id="37898" name="Line 29"/>
          <p:cNvSpPr>
            <a:spLocks noChangeShapeType="1"/>
          </p:cNvSpPr>
          <p:nvPr/>
        </p:nvSpPr>
        <p:spPr bwMode="auto">
          <a:xfrm>
            <a:off x="0" y="548144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7899" name="Line 30"/>
          <p:cNvSpPr>
            <a:spLocks noChangeShapeType="1"/>
          </p:cNvSpPr>
          <p:nvPr/>
        </p:nvSpPr>
        <p:spPr bwMode="auto">
          <a:xfrm>
            <a:off x="0" y="9654105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pic>
        <p:nvPicPr>
          <p:cNvPr id="37900" name="Picture 31" descr="logo_standard_d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52"/>
          <a:stretch>
            <a:fillRect/>
          </a:stretch>
        </p:blipFill>
        <p:spPr bwMode="auto">
          <a:xfrm>
            <a:off x="5812681" y="123179"/>
            <a:ext cx="984994" cy="37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27719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16"/>
          <p:cNvSpPr>
            <a:spLocks noChangeShapeType="1"/>
          </p:cNvSpPr>
          <p:nvPr userDrawn="1"/>
        </p:nvSpPr>
        <p:spPr bwMode="auto">
          <a:xfrm>
            <a:off x="0" y="944563"/>
            <a:ext cx="9144000" cy="0"/>
          </a:xfrm>
          <a:prstGeom prst="line">
            <a:avLst/>
          </a:prstGeom>
          <a:noFill/>
          <a:ln w="19050">
            <a:solidFill>
              <a:srgbClr val="5DAE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Überschrift einfügen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1052736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pic>
        <p:nvPicPr>
          <p:cNvPr id="14" name="Grafik 4" descr="8-7-6-5-4-3-4-5-6-7-8_S.gif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412" y="116633"/>
            <a:ext cx="828092" cy="636596"/>
          </a:xfrm>
          <a:prstGeom prst="rect">
            <a:avLst/>
          </a:prstGeom>
        </p:spPr>
      </p:pic>
      <p:sp>
        <p:nvSpPr>
          <p:cNvPr id="10" name="Rectangle 12"/>
          <p:cNvSpPr>
            <a:spLocks noChangeArrowheads="1"/>
          </p:cNvSpPr>
          <p:nvPr userDrawn="1"/>
        </p:nvSpPr>
        <p:spPr bwMode="auto">
          <a:xfrm>
            <a:off x="0" y="6597650"/>
            <a:ext cx="4572000" cy="260350"/>
          </a:xfrm>
          <a:prstGeom prst="rect">
            <a:avLst/>
          </a:prstGeom>
          <a:solidFill>
            <a:srgbClr val="2190FF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4572000" y="6597650"/>
            <a:ext cx="4572000" cy="260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ltGray">
          <a:xfrm>
            <a:off x="182563" y="6656388"/>
            <a:ext cx="4389437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dirty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12" name="Rectangle 15"/>
          <p:cNvSpPr>
            <a:spLocks noGrp="1" noChangeArrowheads="1"/>
          </p:cNvSpPr>
          <p:nvPr>
            <p:ph type="dt" sz="half" idx="16"/>
          </p:nvPr>
        </p:nvSpPr>
        <p:spPr>
          <a:xfrm>
            <a:off x="7812360" y="6656388"/>
            <a:ext cx="755650" cy="14446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76C5B-2EA2-7A47-B86E-99AAD28441A6}" type="datetime1">
              <a:rPr lang="de-DE" smtClean="0"/>
              <a:t>02.07.2026</a:t>
            </a:fld>
            <a:endParaRPr lang="de-DE" dirty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496094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3"/>
          </p:nvPr>
        </p:nvSpPr>
        <p:spPr>
          <a:xfrm>
            <a:off x="467544" y="512676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noProof="0" dirty="0"/>
              <a:t>Subheadline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A6CC5D-69A9-BA4B-AC99-9F8254D0981E}" type="datetime1">
              <a:rPr lang="de-DE" smtClean="0"/>
              <a:t>02.07.2026</a:t>
            </a:fld>
            <a:endParaRPr lang="de-DE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350257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39750" y="944724"/>
            <a:ext cx="3830638" cy="544020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22788" y="944724"/>
            <a:ext cx="3830637" cy="544020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3"/>
          </p:nvPr>
        </p:nvSpPr>
        <p:spPr>
          <a:xfrm>
            <a:off x="467544" y="512676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9" name="Rectangle 15"/>
          <p:cNvSpPr>
            <a:spLocks noGrp="1" noChangeArrowheads="1"/>
          </p:cNvSpPr>
          <p:nvPr>
            <p:ph type="dt" sz="half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EAA1D-2E15-9046-9A40-4947ABB751C4}" type="datetime1">
              <a:rPr lang="de-DE" smtClean="0"/>
              <a:t>02.07.2026</a:t>
            </a:fld>
            <a:endParaRPr lang="de-DE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338027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750" y="116632"/>
            <a:ext cx="5326063" cy="360362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539750" y="908720"/>
            <a:ext cx="7813675" cy="5476205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3"/>
          </p:nvPr>
        </p:nvSpPr>
        <p:spPr>
          <a:xfrm>
            <a:off x="539750" y="469057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5056C-E1FC-1F4E-A35C-F2D495D58E09}" type="datetime1">
              <a:rPr lang="de-DE" smtClean="0"/>
              <a:t>02.07.2026</a:t>
            </a:fld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283562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539750" y="116632"/>
            <a:ext cx="5326063" cy="360362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469057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C69DE-E521-EC4C-AFF3-2A6651E3F1AC}" type="datetime1">
              <a:rPr lang="de-DE" smtClean="0"/>
              <a:t>02.07.2026</a:t>
            </a:fld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277431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5478" y="2026738"/>
            <a:ext cx="7233045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1" y="3840480"/>
            <a:ext cx="6400799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2563" y="6656388"/>
            <a:ext cx="4389437" cy="14446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7812360" y="6656388"/>
            <a:ext cx="755650" cy="14446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C5E747-687F-9C49-A498-1184E7908D39}" type="datetime1">
              <a:rPr lang="de-DE" smtClean="0"/>
              <a:t>02.07.2026</a:t>
            </a:fld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191271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2"/>
          <p:cNvSpPr>
            <a:spLocks noChangeArrowheads="1"/>
          </p:cNvSpPr>
          <p:nvPr userDrawn="1"/>
        </p:nvSpPr>
        <p:spPr bwMode="auto">
          <a:xfrm>
            <a:off x="0" y="6597650"/>
            <a:ext cx="4572000" cy="260350"/>
          </a:xfrm>
          <a:prstGeom prst="rect">
            <a:avLst/>
          </a:prstGeom>
          <a:solidFill>
            <a:srgbClr val="2190FF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026" name="Rectangle 12"/>
          <p:cNvSpPr>
            <a:spLocks noChangeArrowheads="1"/>
          </p:cNvSpPr>
          <p:nvPr userDrawn="1"/>
        </p:nvSpPr>
        <p:spPr bwMode="auto">
          <a:xfrm>
            <a:off x="4572000" y="6597650"/>
            <a:ext cx="4572000" cy="260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125413"/>
            <a:ext cx="53260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Titelmasterformat durch Klicken bearbeiten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08050"/>
            <a:ext cx="809942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ltGray">
          <a:xfrm>
            <a:off x="182563" y="6656388"/>
            <a:ext cx="4389437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dirty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48464" y="6655197"/>
            <a:ext cx="396044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&gt;</a:t>
            </a:r>
          </a:p>
        </p:txBody>
      </p:sp>
      <p:sp>
        <p:nvSpPr>
          <p:cNvPr id="1033" name="Line 10"/>
          <p:cNvSpPr>
            <a:spLocks noChangeShapeType="1"/>
          </p:cNvSpPr>
          <p:nvPr userDrawn="1"/>
        </p:nvSpPr>
        <p:spPr bwMode="auto">
          <a:xfrm>
            <a:off x="0" y="796925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 noProof="0"/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dt" sz="half" idx="2"/>
          </p:nvPr>
        </p:nvSpPr>
        <p:spPr bwMode="ltGray">
          <a:xfrm>
            <a:off x="7812360" y="6656388"/>
            <a:ext cx="755650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B2D14DF-C64B-D248-822C-9E9F774E507A}" type="datetime1">
              <a:rPr lang="de-DE" noProof="0" smtClean="0"/>
              <a:t>02.07.2026</a:t>
            </a:fld>
            <a:endParaRPr lang="de-DE" noProof="0" dirty="0"/>
          </a:p>
        </p:txBody>
      </p:sp>
      <p:sp>
        <p:nvSpPr>
          <p:cNvPr id="1036" name="AutoShape 16"/>
          <p:cNvSpPr>
            <a:spLocks noChangeArrowheads="1"/>
          </p:cNvSpPr>
          <p:nvPr userDrawn="1"/>
        </p:nvSpPr>
        <p:spPr bwMode="auto">
          <a:xfrm>
            <a:off x="0" y="250825"/>
            <a:ext cx="107950" cy="107950"/>
          </a:xfrm>
          <a:prstGeom prst="homePlate">
            <a:avLst>
              <a:gd name="adj" fmla="val 100000"/>
            </a:avLst>
          </a:prstGeom>
          <a:solidFill>
            <a:schemeClr val="bg2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de-DE" noProof="0"/>
          </a:p>
        </p:txBody>
      </p:sp>
      <p:pic>
        <p:nvPicPr>
          <p:cNvPr id="13" name="Grafik 4" descr="8-7-6-5-4-3-4-5-6-7-8_S.gif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412" y="116633"/>
            <a:ext cx="828092" cy="63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7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2" r:id="rId2"/>
    <p:sldLayoutId id="2147483903" r:id="rId3"/>
    <p:sldLayoutId id="2147483905" r:id="rId4"/>
    <p:sldLayoutId id="2147483906" r:id="rId5"/>
    <p:sldLayoutId id="2147483908" r:id="rId6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9pPr>
    </p:titleStyle>
    <p:bodyStyle>
      <a:lvl1pPr marL="266700" indent="-266700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2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19138" indent="-268288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20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1165225" indent="-271463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18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612900" indent="-265113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16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2060575" indent="-271463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16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18065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6pPr>
      <a:lvl7pPr marL="22637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7pPr>
      <a:lvl8pPr marL="27209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8pPr>
      <a:lvl9pPr marL="31781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4D097-2924-CEC1-73BB-8E3BF1082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9533" y="2204864"/>
            <a:ext cx="7324934" cy="492443"/>
          </a:xfrm>
        </p:spPr>
        <p:txBody>
          <a:bodyPr/>
          <a:lstStyle/>
          <a:p>
            <a:pPr algn="ctr"/>
            <a:r>
              <a:rPr lang="da-DK" sz="3200" dirty="0"/>
              <a:t>FPGA RGB LED PWM Controller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A9FE19-29C8-EC15-67F0-749786579BB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1601" y="3840480"/>
            <a:ext cx="6400799" cy="13942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By:</a:t>
            </a:r>
          </a:p>
          <a:p>
            <a:pPr marL="450850" lvl="1" indent="0">
              <a:buNone/>
            </a:pPr>
            <a:r>
              <a:rPr lang="en-US" dirty="0"/>
              <a:t>Oleg Kelner</a:t>
            </a:r>
          </a:p>
          <a:p>
            <a:pPr marL="450850" lvl="1" indent="0">
              <a:buNone/>
            </a:pPr>
            <a:r>
              <a:rPr lang="en-US" dirty="0"/>
              <a:t>Petr Lavrenov</a:t>
            </a:r>
          </a:p>
          <a:p>
            <a:pPr marL="450850" lvl="1" indent="0">
              <a:buNone/>
            </a:pPr>
            <a:r>
              <a:rPr lang="en-US" dirty="0"/>
              <a:t>Hany Chowdhury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CF7CF1-C1F6-3272-2C76-40FDEA8B6A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580BC1-1C8B-9BB1-0180-1C2AB84C123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02.07.2026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0B7D74-49BE-DB11-056A-B67F12142D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1</a:t>
            </a:fld>
            <a:r>
              <a:rPr lang="de-DE"/>
              <a:t> 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248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56A81-D2DE-9B40-67D3-3C3B34F27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619" y="224644"/>
            <a:ext cx="5326063" cy="360362"/>
          </a:xfrm>
        </p:spPr>
        <p:txBody>
          <a:bodyPr/>
          <a:lstStyle/>
          <a:p>
            <a:r>
              <a:rPr lang="en-US" sz="2400" dirty="0"/>
              <a:t>Planned Modes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2C6C6-DE22-F8CB-F845-69F47433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585" y="1808820"/>
            <a:ext cx="8099425" cy="4180061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/>
              <a:t>Smooth </a:t>
            </a:r>
            <a:r>
              <a:rPr lang="en-US" sz="2000" b="1" dirty="0" err="1"/>
              <a:t>Colour</a:t>
            </a:r>
            <a:r>
              <a:rPr lang="en-US" sz="2000" b="1" dirty="0"/>
              <a:t> Transition</a:t>
            </a:r>
            <a:br>
              <a:rPr lang="en-US" sz="2000" b="1" dirty="0"/>
            </a:br>
            <a:r>
              <a:rPr lang="en-US" sz="2000" dirty="0"/>
              <a:t>The RGB LED gradually changes between different </a:t>
            </a:r>
            <a:r>
              <a:rPr lang="en-US" sz="2000" dirty="0" err="1"/>
              <a:t>colours</a:t>
            </a:r>
            <a:r>
              <a:rPr lang="en-US" sz="2000" dirty="0"/>
              <a:t> by slowly increasing and decreasing the PWM duty cycles of the red, green, and blue channels.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 err="1"/>
              <a:t>Colour</a:t>
            </a:r>
            <a:r>
              <a:rPr lang="en-US" sz="2000" b="1" dirty="0"/>
              <a:t> Blink Mode</a:t>
            </a:r>
            <a:br>
              <a:rPr lang="en-US" sz="2000" b="1" dirty="0"/>
            </a:br>
            <a:r>
              <a:rPr lang="en-US" sz="2000" dirty="0"/>
              <a:t>The LED blinks in different </a:t>
            </a:r>
            <a:r>
              <a:rPr lang="en-US" sz="2000" dirty="0" err="1"/>
              <a:t>colours</a:t>
            </a:r>
            <a:r>
              <a:rPr lang="en-US" sz="2000" dirty="0"/>
              <a:t>. Each </a:t>
            </a:r>
            <a:r>
              <a:rPr lang="en-US" sz="2000" dirty="0" err="1"/>
              <a:t>colour</a:t>
            </a:r>
            <a:r>
              <a:rPr lang="en-US" sz="2000" dirty="0"/>
              <a:t> is displayed for a short time before switching to the next one.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/>
              <a:t>Fade In / Fade Out Mode</a:t>
            </a:r>
            <a:br>
              <a:rPr lang="en-US" sz="2000" b="1" dirty="0"/>
            </a:br>
            <a:r>
              <a:rPr lang="en-US" sz="2000" dirty="0"/>
              <a:t>The LED smoothly fades in and out by changing the overall brightness while keeping the selected </a:t>
            </a:r>
            <a:r>
              <a:rPr lang="en-US" sz="2000" dirty="0" err="1"/>
              <a:t>colour</a:t>
            </a:r>
            <a:r>
              <a:rPr lang="en-US" sz="2000" dirty="0"/>
              <a:t> pattern.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8BC9B9-1F9C-6980-BB09-FCD8A158D4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Prof. Dr. Achim Rettberg – University of Applied Sciences Hamm-Lippstadt</a:t>
            </a:r>
            <a:endParaRPr lang="de-DE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E6E1833C-BFC9-9723-3DD2-4E7775D3A5D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EEA6CC5D-69A9-BA4B-AC99-9F8254D0981E}" type="datetime1">
              <a:rPr lang="de-DE" smtClean="0"/>
              <a:t>02.07.2026</a:t>
            </a:fld>
            <a:endParaRPr lang="de-DE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600053-3185-B637-E8E1-1CDB003AE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2</a:t>
            </a:fld>
            <a:r>
              <a:rPr lang="de-DE"/>
              <a:t> 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624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94CCA-CD82-758E-1D77-FE65DEFD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56646-9C41-1E4F-2006-0F3E26F4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619" y="224644"/>
            <a:ext cx="5326063" cy="360362"/>
          </a:xfrm>
        </p:spPr>
        <p:txBody>
          <a:bodyPr/>
          <a:lstStyle/>
          <a:p>
            <a:r>
              <a:rPr lang="en-US" sz="2400" dirty="0"/>
              <a:t>Main Components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CEA16C-C51E-6996-E909-D0FDFC057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585" y="1916832"/>
            <a:ext cx="8099425" cy="4180061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FPGA-based PWM generator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RGB LED output control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Mode selection using external input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Timing logic for </a:t>
            </a:r>
            <a:r>
              <a:rPr lang="en-US" sz="2000" dirty="0" err="1"/>
              <a:t>colour</a:t>
            </a:r>
            <a:r>
              <a:rPr lang="en-US" sz="2000" dirty="0"/>
              <a:t> changes, blinking, and fading effects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/>
              <a:t>The goal of the project is to demonstrate how an FPGA can be used to generate precise digital control signals for visible lighting effects.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95CDD-E643-A5FA-B563-300FD54AB9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Prof. Dr. Achim Rettberg – University of Applied Sciences Hamm-Lippstadt</a:t>
            </a:r>
            <a:endParaRPr lang="de-DE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66F25FB3-637D-8729-C3EE-3C812DD5356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EEA6CC5D-69A9-BA4B-AC99-9F8254D0981E}" type="datetime1">
              <a:rPr lang="de-DE" smtClean="0"/>
              <a:t>02.07.2026</a:t>
            </a:fld>
            <a:endParaRPr lang="de-DE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A3CC22-53E7-1C5C-B24D-EAF7F7696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3</a:t>
            </a:fld>
            <a:r>
              <a:rPr lang="de-DE"/>
              <a:t> 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965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E917F-F9F1-AC8B-0334-434E1B06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A16F33-F167-382F-EC88-F87AAA3328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9366E1-EBEE-D8BF-0EB4-C4B93DD363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02.07.2026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ABDA98-9618-B9FD-DA3C-9534523858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4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4A6E170-84A3-DB08-3B90-A50512B5CB01}"/>
              </a:ext>
            </a:extLst>
          </p:cNvPr>
          <p:cNvSpPr txBox="1">
            <a:spLocks/>
          </p:cNvSpPr>
          <p:nvPr/>
        </p:nvSpPr>
        <p:spPr bwMode="auto">
          <a:xfrm>
            <a:off x="603619" y="224644"/>
            <a:ext cx="532606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0" i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PWM Controller</a:t>
            </a:r>
            <a:br>
              <a:rPr lang="en-US" sz="24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24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2400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DBA7A0-CCDB-5353-27A2-18605A30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792" y="1196752"/>
            <a:ext cx="6804025" cy="488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04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D6FC4-5269-5809-2E5E-AC561410F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6E2186-B405-A892-F0C0-5C7AC9C707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F6CB71-C0B1-3C4B-34C1-BA74402C93F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02.07.2026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1FE6D4-0FE5-7DC7-37D2-249F1EFD6BE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5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84F5C01-96E4-EC85-1B72-0B5E54C94473}"/>
              </a:ext>
            </a:extLst>
          </p:cNvPr>
          <p:cNvSpPr txBox="1">
            <a:spLocks/>
          </p:cNvSpPr>
          <p:nvPr/>
        </p:nvSpPr>
        <p:spPr bwMode="auto">
          <a:xfrm>
            <a:off x="603619" y="224644"/>
            <a:ext cx="532606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0" i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PWM Generator</a:t>
            </a:r>
            <a:br>
              <a:rPr lang="en-US" sz="24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2400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917367-CD21-A1BE-2236-3293C7670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448780"/>
            <a:ext cx="9101871" cy="42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2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F677F-AAC4-77B1-4317-9AFF0424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AA435C-C59F-A49E-9CB7-74B52BF6DF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8C17EC-600D-9B32-0AED-CCE694F89B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02.07.2026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124C11-B983-0696-4C78-4B32D8201F6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6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54995EB1-2454-8D7F-41AF-4AC2A324809F}"/>
              </a:ext>
            </a:extLst>
          </p:cNvPr>
          <p:cNvSpPr txBox="1">
            <a:spLocks/>
          </p:cNvSpPr>
          <p:nvPr/>
        </p:nvSpPr>
        <p:spPr bwMode="auto">
          <a:xfrm>
            <a:off x="603619" y="224644"/>
            <a:ext cx="5326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0" i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Smooth Transition</a:t>
            </a:r>
            <a:endParaRPr lang="en-US" sz="2400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DE19AB1-7078-800A-4526-02E6B246B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433512"/>
            <a:ext cx="58959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8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CC93-61F1-254A-4665-DDA4FB1ED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E8C883C-64E9-A37D-CEC7-1E3022A867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953859-C744-A833-D510-C1905FBAE61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02.07.2026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020B68-7839-8EC0-C53D-F54B6080F9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7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E19B9715-E30B-1B53-094C-4C2F9C05A122}"/>
              </a:ext>
            </a:extLst>
          </p:cNvPr>
          <p:cNvSpPr txBox="1">
            <a:spLocks/>
          </p:cNvSpPr>
          <p:nvPr/>
        </p:nvSpPr>
        <p:spPr bwMode="auto">
          <a:xfrm>
            <a:off x="603619" y="224644"/>
            <a:ext cx="5326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0" i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Router</a:t>
            </a:r>
            <a:endParaRPr lang="en-US" sz="2400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EE159B-499A-9C95-2B2B-811C63575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14" y="1016459"/>
            <a:ext cx="7036572" cy="524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73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BFF5-CB97-61B0-1BF4-63479ACF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F72760-977D-F0ED-3CAA-C6649F3EBB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A8A3A4-0AB3-3F61-B3C4-62F9C6DF9C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02.07.2026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02E93C-FDAE-A0FD-B72E-71672D0508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8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34B90A7C-E0AC-C6D0-DF22-039268A94E75}"/>
              </a:ext>
            </a:extLst>
          </p:cNvPr>
          <p:cNvSpPr txBox="1">
            <a:spLocks/>
          </p:cNvSpPr>
          <p:nvPr/>
        </p:nvSpPr>
        <p:spPr bwMode="auto">
          <a:xfrm>
            <a:off x="603619" y="224644"/>
            <a:ext cx="5326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0" i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Fade In/Out</a:t>
            </a:r>
            <a:endParaRPr lang="en-US" sz="2400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C9DBCB-DE28-4437-0B13-5EB949D92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016855"/>
            <a:ext cx="7030969" cy="534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4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90C3F-2A94-9A28-E28D-18F46A6E9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F0790F-F6B8-484F-90E2-A3CC0B9468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FE89FA-B9EC-2AA3-2FAD-53F14DD6567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02.07.2026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4AF984-3CF1-CC23-104C-906C6818CD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9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98E9000-C7B9-61E2-4024-A6DB847F0DF8}"/>
              </a:ext>
            </a:extLst>
          </p:cNvPr>
          <p:cNvSpPr txBox="1">
            <a:spLocks/>
          </p:cNvSpPr>
          <p:nvPr/>
        </p:nvSpPr>
        <p:spPr bwMode="auto">
          <a:xfrm>
            <a:off x="603619" y="224644"/>
            <a:ext cx="5326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0" i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Blink</a:t>
            </a:r>
            <a:endParaRPr lang="en-US" sz="2400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26ECA5-D780-327F-D29E-769CDA09E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08" y="1587565"/>
            <a:ext cx="48768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8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EDA59-107F-944D-6BE1-290DE887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6A6B6B8-4726-54CB-8A99-BE7D86029F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C5CC41-90B4-029A-9979-4C87C732560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02.07.2026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C655EE-757A-622C-9F09-6F99123520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10</a:t>
            </a:fld>
            <a:r>
              <a:rPr lang="de-DE"/>
              <a:t> &gt;</a:t>
            </a:r>
            <a:endParaRPr lang="de-DE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4CFF44C-81B1-E41F-F499-854B9D7EC5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18" t="30051" r="10516" b="833"/>
          <a:stretch>
            <a:fillRect/>
          </a:stretch>
        </p:blipFill>
        <p:spPr>
          <a:xfrm>
            <a:off x="1601670" y="1232756"/>
            <a:ext cx="5940660" cy="4740002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8FA626E9-A939-C7E8-4A2A-DA2023614349}"/>
              </a:ext>
            </a:extLst>
          </p:cNvPr>
          <p:cNvSpPr txBox="1">
            <a:spLocks/>
          </p:cNvSpPr>
          <p:nvPr/>
        </p:nvSpPr>
        <p:spPr bwMode="auto">
          <a:xfrm>
            <a:off x="603619" y="224644"/>
            <a:ext cx="532606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0" i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PCB Design</a:t>
            </a:r>
            <a:br>
              <a:rPr lang="en-US" sz="24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2400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2400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857623"/>
      </p:ext>
    </p:extLst>
  </p:cSld>
  <p:clrMapOvr>
    <a:masterClrMapping/>
  </p:clrMapOvr>
</p:sld>
</file>

<file path=ppt/theme/theme1.xml><?xml version="1.0" encoding="utf-8"?>
<a:theme xmlns:a="http://schemas.openxmlformats.org/drawingml/2006/main" name="1_STANDARD">
  <a:themeElements>
    <a:clrScheme name="STANDARD 1">
      <a:dk1>
        <a:srgbClr val="000000"/>
      </a:dk1>
      <a:lt1>
        <a:srgbClr val="FFFFFF"/>
      </a:lt1>
      <a:dk2>
        <a:srgbClr val="00197D"/>
      </a:dk2>
      <a:lt2>
        <a:srgbClr val="646464"/>
      </a:lt2>
      <a:accent1>
        <a:srgbClr val="0078F0"/>
      </a:accent1>
      <a:accent2>
        <a:srgbClr val="6EAA23"/>
      </a:accent2>
      <a:accent3>
        <a:srgbClr val="FFFFFF"/>
      </a:accent3>
      <a:accent4>
        <a:srgbClr val="000000"/>
      </a:accent4>
      <a:accent5>
        <a:srgbClr val="AABEF6"/>
      </a:accent5>
      <a:accent6>
        <a:srgbClr val="639A1F"/>
      </a:accent6>
      <a:hlink>
        <a:srgbClr val="00197D"/>
      </a:hlink>
      <a:folHlink>
        <a:srgbClr val="FF8700"/>
      </a:folHlink>
    </a:clrScheme>
    <a:fontScheme name="STANDAR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88900" marR="0" indent="-88900" algn="l" defTabSz="914400" rtl="0" eaLnBrk="1" fontAlgn="base" latinLnBrk="0" hangingPunct="1">
          <a:lnSpc>
            <a:spcPts val="1700"/>
          </a:lnSpc>
          <a:spcBef>
            <a:spcPct val="0"/>
          </a:spcBef>
          <a:spcAft>
            <a:spcPts val="300"/>
          </a:spcAft>
          <a:buClr>
            <a:schemeClr val="tx2"/>
          </a:buClr>
          <a:buSzPct val="70000"/>
          <a:buFont typeface="Arial" pitchFamily="34" charset="0"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88900" marR="0" indent="-88900" algn="l" defTabSz="914400" rtl="0" eaLnBrk="1" fontAlgn="base" latinLnBrk="0" hangingPunct="1">
          <a:lnSpc>
            <a:spcPts val="1700"/>
          </a:lnSpc>
          <a:spcBef>
            <a:spcPct val="0"/>
          </a:spcBef>
          <a:spcAft>
            <a:spcPts val="300"/>
          </a:spcAft>
          <a:buClr>
            <a:schemeClr val="tx2"/>
          </a:buClr>
          <a:buSzPct val="70000"/>
          <a:buFont typeface="Arial" pitchFamily="34" charset="0"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STANDARD 1">
        <a:dk1>
          <a:srgbClr val="000000"/>
        </a:dk1>
        <a:lt1>
          <a:srgbClr val="FFFFFF"/>
        </a:lt1>
        <a:dk2>
          <a:srgbClr val="00197D"/>
        </a:dk2>
        <a:lt2>
          <a:srgbClr val="646464"/>
        </a:lt2>
        <a:accent1>
          <a:srgbClr val="0078F0"/>
        </a:accent1>
        <a:accent2>
          <a:srgbClr val="6EAA23"/>
        </a:accent2>
        <a:accent3>
          <a:srgbClr val="FFFFFF"/>
        </a:accent3>
        <a:accent4>
          <a:srgbClr val="000000"/>
        </a:accent4>
        <a:accent5>
          <a:srgbClr val="AABEF6"/>
        </a:accent5>
        <a:accent6>
          <a:srgbClr val="639A1F"/>
        </a:accent6>
        <a:hlink>
          <a:srgbClr val="00197D"/>
        </a:hlink>
        <a:folHlink>
          <a:srgbClr val="FF87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274</Words>
  <Application>Microsoft Office PowerPoint</Application>
  <PresentationFormat>Экран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Wingdings 3</vt:lpstr>
      <vt:lpstr>1_STANDARD</vt:lpstr>
      <vt:lpstr>FPGA RGB LED PWM Controller</vt:lpstr>
      <vt:lpstr>Planned Modes </vt:lpstr>
      <vt:lpstr>Main Components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HSHL</dc:title>
  <dc:creator>Prof. Dr. Henkler, Stefan</dc:creator>
  <cp:lastModifiedBy>Oleg Kelner</cp:lastModifiedBy>
  <cp:revision>757</cp:revision>
  <cp:lastPrinted>2016-03-22T17:20:48Z</cp:lastPrinted>
  <dcterms:created xsi:type="dcterms:W3CDTF">2008-08-13T11:47:09Z</dcterms:created>
  <dcterms:modified xsi:type="dcterms:W3CDTF">2026-07-02T08:18:31Z</dcterms:modified>
</cp:coreProperties>
</file>