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CE7B"/>
    <a:srgbClr val="F5D27E"/>
    <a:srgbClr val="FBDD9D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EB86C6-D36A-475F-B777-0E160A364822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6FA61-3EE4-4E13-A876-F1759C143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719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6FA61-3EE4-4E13-A876-F1759C143452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4650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6FA61-3EE4-4E13-A876-F1759C143452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5159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B7F54-6FBC-9850-5975-527C7AEC64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FB6E9-E814-CF2E-B235-1B03EEDAE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2646F-1436-ABA1-4222-EB37D45E1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8FEB-4B18-444D-99A7-73AB8A9E2233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4D241-5109-066C-F316-DEF6CF36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B375B-1978-CBF3-0227-F80B30988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E6179-1F21-4AAD-8CF6-DC9DD4DF8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151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E77B9-028B-7174-1AC8-E96B64AEF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43FA4-9F41-8705-42A9-589D190F6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623A4-EE5E-367B-D72C-E45A981DB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8FEB-4B18-444D-99A7-73AB8A9E2233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22E28-F699-5C16-4F13-DD49E101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31839-9FAF-8B03-7423-968317ABE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E6179-1F21-4AAD-8CF6-DC9DD4DF8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215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32C02-6B8F-23D2-06BC-6119C8919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EA181-B7F9-FAF9-7DDE-112C1330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FB528-7709-EEDF-886F-DF589F1EC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8FEB-4B18-444D-99A7-73AB8A9E2233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1B699-5E15-A2A7-4F8A-D20DCE10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24D76-142E-F377-183C-79D98F77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E6179-1F21-4AAD-8CF6-DC9DD4DF8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288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CD58A-7A70-687D-22D1-B82888346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A3E3F-75CE-3BD5-7FE2-FDECAE8B8F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4EC91-35FC-3930-0F05-C7D99AC6F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4BD20D-6AE4-69FA-36F9-DF6343D2A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8FEB-4B18-444D-99A7-73AB8A9E2233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3AD3F-F560-FC83-A0F3-44126F559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C45276-2871-E16C-4D56-551D8DD1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E6179-1F21-4AAD-8CF6-DC9DD4DF8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9587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B8D0A-9902-AFCF-0975-0D96DE344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8F201-8270-C74C-1C18-F37B12309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15ADDF-A68A-D241-114C-868F204B7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20175A-FB5C-A3FD-B693-DACD2A92C2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854F18-3E62-4CFC-A797-280963B89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AD986C-8FFA-94DE-295E-21A875740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8FEB-4B18-444D-99A7-73AB8A9E2233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7CD2A8-8BE2-439C-7BC8-F28ACA8C7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B92C25-7658-59F8-2F30-CD9EF78C9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E6179-1F21-4AAD-8CF6-DC9DD4DF8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703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3B81D-648A-193B-91B7-BD2EF4DD6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50CB35-DD1B-707E-629E-D88EE2154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8FEB-4B18-444D-99A7-73AB8A9E2233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714728-23FA-3D6F-F521-715F0A6BB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6BAEA-1AE8-272C-5A8F-DD9BA652B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E6179-1F21-4AAD-8CF6-DC9DD4DF8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5355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67B2DA-A8E7-A5A9-2729-87A24428F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8FEB-4B18-444D-99A7-73AB8A9E2233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C52902-9913-D7C3-56B9-9514D7134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C0331-E74B-E8B6-9F0D-231A68B8B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E6179-1F21-4AAD-8CF6-DC9DD4DF8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412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6BAA8-952F-114C-9245-4C362CB14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F602E-CD94-E3F8-5660-F5FD0E18D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EF0B1-6877-92E1-072F-0A82062CB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4252C-93EA-20A0-77DD-CFDDC209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8FEB-4B18-444D-99A7-73AB8A9E2233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14B7C-D079-86E3-5A92-DBCC978A6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4DA97-CEAA-E5FB-7B31-C6844259B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E6179-1F21-4AAD-8CF6-DC9DD4DF8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135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73A98-CBD8-A1E4-873B-A7E6EB0A5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3571F0-076B-5149-4DB2-463A4124B6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AFF2E-1F32-25EF-BCB8-43AE2B5AC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BF704-C8F4-DC5B-4831-F5FC60530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8FEB-4B18-444D-99A7-73AB8A9E2233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A48D7-4F73-C0BC-A542-18473000A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91F92-5AED-0552-D6C0-667335B02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E6179-1F21-4AAD-8CF6-DC9DD4DF8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39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0136E-34F9-F802-03C1-9449B56BB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CEC0A-6253-2F5C-2A6B-6296A1F65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50CE0-47D8-68E6-AFA7-AC8D895DE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8FEB-4B18-444D-99A7-73AB8A9E2233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A4BD4-BE47-54E7-B3C5-D09072FFE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3BB47-0495-3683-3F52-599980C1C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E6179-1F21-4AAD-8CF6-DC9DD4DF8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806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BD8E34-3BE7-D701-44E1-4E2D2926CF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D75A2-07E9-C9CE-22B9-5E563CF9B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9EB71-7299-55A8-C0CC-BC8D56A57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8FEB-4B18-444D-99A7-73AB8A9E2233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DF460-FC8C-2E6E-A413-E2465F600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C30CC-FE8F-8A7E-C575-7511B4776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E6179-1F21-4AAD-8CF6-DC9DD4DF8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5931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9278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19DD7B-E481-4AF9-B77C-EB6C1A4F3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EF7AD-07FE-F99D-C750-5D1A3E266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34A68-2F40-C9C9-1158-2F8DEB13D5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B98FEB-4B18-444D-99A7-73AB8A9E2233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FEB1F-25E7-48C1-A2D8-EDDAE8D80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DF1E1-001E-DF99-43C6-CD55A23C4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1E6179-1F21-4AAD-8CF6-DC9DD4DF8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0715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tadtwerke-lippstadt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E45BC-E474-EB10-40F3-827FD8FBB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748" y="860612"/>
            <a:ext cx="4051311" cy="1408823"/>
          </a:xfrm>
          <a:solidFill>
            <a:srgbClr val="F8CE7B">
              <a:alpha val="48000"/>
            </a:srgbClr>
          </a:solidFill>
          <a:ln>
            <a:solidFill>
              <a:schemeClr val="accent1"/>
            </a:solidFill>
          </a:ln>
          <a:effectLst>
            <a:softEdge rad="63500"/>
          </a:effectLst>
        </p:spPr>
        <p:txBody>
          <a:bodyPr>
            <a:noAutofit/>
          </a:bodyPr>
          <a:lstStyle/>
          <a:p>
            <a:r>
              <a:rPr lang="en-US" sz="4400" noProof="0" dirty="0"/>
              <a:t>Power Line Communication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DFBC5E-08C4-132F-599F-ACDF5A8C4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748" y="3186953"/>
            <a:ext cx="4051311" cy="1842248"/>
          </a:xfrm>
          <a:solidFill>
            <a:srgbClr val="00B0F0">
              <a:alpha val="21000"/>
            </a:srgbClr>
          </a:solidFill>
          <a:ln>
            <a:solidFill>
              <a:schemeClr val="accent1"/>
            </a:solidFill>
          </a:ln>
          <a:effectLst>
            <a:softEdge rad="114300"/>
          </a:effectLst>
        </p:spPr>
        <p:txBody>
          <a:bodyPr>
            <a:normAutofit lnSpcReduction="10000"/>
          </a:bodyPr>
          <a:lstStyle/>
          <a:p>
            <a:br>
              <a:rPr lang="en-US" sz="3200" noProof="0" dirty="0"/>
            </a:br>
            <a:r>
              <a:rPr lang="en-US" sz="3200" noProof="0" dirty="0"/>
              <a:t>Petr Lavrenov</a:t>
            </a:r>
            <a:br>
              <a:rPr lang="en-US" sz="3200" noProof="0" dirty="0"/>
            </a:br>
            <a:r>
              <a:rPr lang="en-US" sz="3200" noProof="0" dirty="0"/>
              <a:t>Hany Chowdhury</a:t>
            </a:r>
            <a:br>
              <a:rPr lang="en-US" sz="3200" noProof="0" dirty="0"/>
            </a:br>
            <a:r>
              <a:rPr lang="en-US" sz="3200" noProof="0" dirty="0"/>
              <a:t>Oleg Kelner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664A9A-F6DE-A852-6A0D-2B9739402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022" y="0"/>
            <a:ext cx="7677978" cy="6858000"/>
          </a:xfrm>
          <a:prstGeom prst="rect">
            <a:avLst/>
          </a:prstGeom>
          <a:effectLst>
            <a:softEdge rad="1143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FD7199-CE16-B21E-9878-B6C47735182C}"/>
              </a:ext>
            </a:extLst>
          </p:cNvPr>
          <p:cNvSpPr txBox="1"/>
          <p:nvPr/>
        </p:nvSpPr>
        <p:spPr>
          <a:xfrm>
            <a:off x="1847098" y="2405028"/>
            <a:ext cx="6091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noProof="0" dirty="0"/>
              <a:t>By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D51365-EDD8-9FA0-51E2-44942D509099}"/>
              </a:ext>
            </a:extLst>
          </p:cNvPr>
          <p:cNvSpPr txBox="1"/>
          <p:nvPr/>
        </p:nvSpPr>
        <p:spPr>
          <a:xfrm>
            <a:off x="8524568" y="6488668"/>
            <a:ext cx="37846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https://the-electric-orphanage.com</a:t>
            </a:r>
          </a:p>
        </p:txBody>
      </p:sp>
    </p:spTree>
    <p:extLst>
      <p:ext uri="{BB962C8B-B14F-4D97-AF65-F5344CB8AC3E}">
        <p14:creationId xmlns:p14="http://schemas.microsoft.com/office/powerpoint/2010/main" val="2064835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66F40D-7F05-3484-DA53-802549F46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30" y="2052444"/>
            <a:ext cx="11936622" cy="42327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3DD524-77B7-3E51-F719-CC0910A9EBF9}"/>
              </a:ext>
            </a:extLst>
          </p:cNvPr>
          <p:cNvSpPr txBox="1"/>
          <p:nvPr/>
        </p:nvSpPr>
        <p:spPr>
          <a:xfrm>
            <a:off x="6940738" y="6211669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https://circuitdigest.com/article/what-is-power-line-communication-plc-and-how-does-it-work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AC9F093-0ED3-0C44-3B96-A3A0A0E8790D}"/>
              </a:ext>
            </a:extLst>
          </p:cNvPr>
          <p:cNvSpPr txBox="1">
            <a:spLocks/>
          </p:cNvSpPr>
          <p:nvPr/>
        </p:nvSpPr>
        <p:spPr>
          <a:xfrm>
            <a:off x="754165" y="226107"/>
            <a:ext cx="9274089" cy="1431872"/>
          </a:xfrm>
          <a:prstGeom prst="rect">
            <a:avLst/>
          </a:prstGeom>
          <a:solidFill>
            <a:srgbClr val="00B0F0">
              <a:alpha val="21000"/>
            </a:srgbClr>
          </a:solidFill>
          <a:ln>
            <a:solidFill>
              <a:schemeClr val="accent1"/>
            </a:solidFill>
          </a:ln>
          <a:effectLst>
            <a:softEdge rad="114300"/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5400" noProof="0" dirty="0"/>
              <a:t>Basic Principle:</a:t>
            </a:r>
            <a:endParaRPr lang="en-US" sz="3200" noProof="0" dirty="0"/>
          </a:p>
        </p:txBody>
      </p:sp>
    </p:spTree>
    <p:extLst>
      <p:ext uri="{BB962C8B-B14F-4D97-AF65-F5344CB8AC3E}">
        <p14:creationId xmlns:p14="http://schemas.microsoft.com/office/powerpoint/2010/main" val="2270428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7351A-DED4-F835-FB6C-D2C6CA967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4CAADB-2C10-7AFB-2526-C88C5A85C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9230"/>
            <a:ext cx="12192000" cy="69764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DEE0C5-8919-0C2A-8DFA-01C1A9BE09E5}"/>
              </a:ext>
            </a:extLst>
          </p:cNvPr>
          <p:cNvSpPr txBox="1"/>
          <p:nvPr/>
        </p:nvSpPr>
        <p:spPr>
          <a:xfrm>
            <a:off x="334296" y="45443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noProof="0" dirty="0"/>
              <a:t>M1 carrier telephone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C82E1E-ABC7-7D63-DBF8-3382674C3809}"/>
              </a:ext>
            </a:extLst>
          </p:cNvPr>
          <p:cNvSpPr txBox="1"/>
          <p:nvPr/>
        </p:nvSpPr>
        <p:spPr>
          <a:xfrm>
            <a:off x="8524568" y="6488668"/>
            <a:ext cx="37846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https://the-electric-orphanage.com</a:t>
            </a:r>
          </a:p>
        </p:txBody>
      </p:sp>
    </p:spTree>
    <p:extLst>
      <p:ext uri="{BB962C8B-B14F-4D97-AF65-F5344CB8AC3E}">
        <p14:creationId xmlns:p14="http://schemas.microsoft.com/office/powerpoint/2010/main" val="1461356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5DC95-C098-10CC-F557-4B2F26087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 2">
            <a:extLst>
              <a:ext uri="{FF2B5EF4-FFF2-40B4-BE49-F238E27FC236}">
                <a16:creationId xmlns:a16="http://schemas.microsoft.com/office/drawing/2014/main" id="{14ABD5F6-0F7B-43E8-AF63-91FC8F239BF6}"/>
              </a:ext>
            </a:extLst>
          </p:cNvPr>
          <p:cNvSpPr txBox="1">
            <a:spLocks/>
          </p:cNvSpPr>
          <p:nvPr/>
        </p:nvSpPr>
        <p:spPr>
          <a:xfrm>
            <a:off x="191729" y="226107"/>
            <a:ext cx="11695471" cy="1431872"/>
          </a:xfrm>
          <a:prstGeom prst="rect">
            <a:avLst/>
          </a:prstGeom>
          <a:solidFill>
            <a:srgbClr val="00B0F0">
              <a:alpha val="21000"/>
            </a:srgbClr>
          </a:solidFill>
          <a:ln>
            <a:solidFill>
              <a:schemeClr val="accent1"/>
            </a:solidFill>
          </a:ln>
          <a:effectLst>
            <a:softEdge rad="114300"/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5400" noProof="0" dirty="0"/>
              <a:t>Challenges of PLC:</a:t>
            </a:r>
            <a:endParaRPr lang="en-US" sz="3200" noProof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88BAF21-9325-CFDA-F702-0BF7A2B4BBB3}"/>
              </a:ext>
            </a:extLst>
          </p:cNvPr>
          <p:cNvSpPr txBox="1">
            <a:spLocks/>
          </p:cNvSpPr>
          <p:nvPr/>
        </p:nvSpPr>
        <p:spPr>
          <a:xfrm>
            <a:off x="191728" y="1657979"/>
            <a:ext cx="11695471" cy="5057453"/>
          </a:xfrm>
          <a:prstGeom prst="rect">
            <a:avLst/>
          </a:prstGeom>
          <a:solidFill>
            <a:srgbClr val="F8CE7B">
              <a:alpha val="48000"/>
            </a:srgbClr>
          </a:solidFill>
          <a:ln>
            <a:solidFill>
              <a:schemeClr val="accent1"/>
            </a:solidFill>
          </a:ln>
          <a:effectLst>
            <a:softEdge rad="63500"/>
          </a:effectLst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noProof="0" dirty="0"/>
              <a:t>In the M1 carrier telephone system in 1925, Wolfe and co-authors identified three main development problems:</a:t>
            </a:r>
            <a:br>
              <a:rPr lang="en-US" sz="2400" noProof="0" dirty="0"/>
            </a:br>
            <a:endParaRPr lang="en-US" sz="2400" noProof="0" dirty="0"/>
          </a:p>
          <a:p>
            <a:r>
              <a:rPr lang="en-US" sz="2400" b="1" noProof="0" dirty="0"/>
              <a:t>1) Understanding the line </a:t>
            </a:r>
            <a:r>
              <a:rPr lang="en-US" sz="2400" b="1" noProof="0" dirty="0" err="1"/>
              <a:t>behaviour</a:t>
            </a:r>
            <a:r>
              <a:rPr lang="en-US" sz="2400" b="1" noProof="0" dirty="0"/>
              <a:t>:</a:t>
            </a:r>
          </a:p>
          <a:p>
            <a:r>
              <a:rPr lang="en-US" sz="2400" noProof="0" dirty="0"/>
              <a:t>	The high-frequency </a:t>
            </a:r>
            <a:r>
              <a:rPr lang="en-US" sz="2400" noProof="0" dirty="0" err="1"/>
              <a:t>behaviour</a:t>
            </a:r>
            <a:r>
              <a:rPr lang="en-US" sz="2400" noProof="0" dirty="0"/>
              <a:t> of power lines and related equipment had to be studied together with power companies.</a:t>
            </a:r>
            <a:br>
              <a:rPr lang="en-US" sz="2400" noProof="0" dirty="0"/>
            </a:br>
            <a:endParaRPr lang="en-US" sz="2400" noProof="0" dirty="0"/>
          </a:p>
          <a:p>
            <a:r>
              <a:rPr lang="en-US" sz="2400" b="1" noProof="0" dirty="0"/>
              <a:t>2) Coupling to high-voltage lines:</a:t>
            </a:r>
          </a:p>
          <a:p>
            <a:r>
              <a:rPr lang="en-US" sz="2400" noProof="0" dirty="0"/>
              <a:t>	A safe and efficient way was needed to connect carrier communication equipment to high-voltage conductors.</a:t>
            </a:r>
            <a:br>
              <a:rPr lang="en-US" sz="2400" noProof="0" dirty="0"/>
            </a:br>
            <a:endParaRPr lang="en-US" sz="2400" noProof="0" dirty="0"/>
          </a:p>
          <a:p>
            <a:r>
              <a:rPr lang="en-US" sz="2400" b="1" noProof="0" dirty="0"/>
              <a:t>3) Developing the communication equipment:</a:t>
            </a:r>
          </a:p>
          <a:p>
            <a:r>
              <a:rPr lang="en-US" sz="2400" noProof="0" dirty="0"/>
              <a:t>	Only after the line </a:t>
            </a:r>
            <a:r>
              <a:rPr lang="en-US" sz="2400" noProof="0" dirty="0" err="1"/>
              <a:t>behaviour</a:t>
            </a:r>
            <a:r>
              <a:rPr lang="en-US" sz="2400" noProof="0" dirty="0"/>
              <a:t> and coupling problems were understood could the actual communication circuits and devices be designed.</a:t>
            </a:r>
          </a:p>
        </p:txBody>
      </p:sp>
    </p:spTree>
    <p:extLst>
      <p:ext uri="{BB962C8B-B14F-4D97-AF65-F5344CB8AC3E}">
        <p14:creationId xmlns:p14="http://schemas.microsoft.com/office/powerpoint/2010/main" val="1577351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EB3B1C-DB00-6350-C667-05D2BD82D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60" y="129163"/>
            <a:ext cx="8207451" cy="12345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C6B106-105D-B7FB-37DA-0A115F322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60" y="1587941"/>
            <a:ext cx="6044640" cy="48311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1C609F-C4F6-A6E0-3772-2668B6B0265A}"/>
              </a:ext>
            </a:extLst>
          </p:cNvPr>
          <p:cNvSpPr txBox="1"/>
          <p:nvPr/>
        </p:nvSpPr>
        <p:spPr>
          <a:xfrm>
            <a:off x="8179602" y="6211669"/>
            <a:ext cx="40123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>
                <a:hlinkClick r:id="rId4"/>
              </a:rPr>
              <a:t>https://www.stadtwerke-lippstadt.com</a:t>
            </a:r>
            <a:r>
              <a:rPr lang="en-US" noProof="0" dirty="0"/>
              <a:t> Translated With Google Translate</a:t>
            </a:r>
          </a:p>
        </p:txBody>
      </p:sp>
    </p:spTree>
    <p:extLst>
      <p:ext uri="{BB962C8B-B14F-4D97-AF65-F5344CB8AC3E}">
        <p14:creationId xmlns:p14="http://schemas.microsoft.com/office/powerpoint/2010/main" val="1058257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A960B5-F494-12D4-FFA1-63855681F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2538" y="223818"/>
            <a:ext cx="6454699" cy="53878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580306-9247-BF90-C813-A834B0EA0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056" y="223818"/>
            <a:ext cx="5989839" cy="60355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0E084E-7C4E-1A00-E5DC-237B1191A61D}"/>
              </a:ext>
            </a:extLst>
          </p:cNvPr>
          <p:cNvSpPr txBox="1"/>
          <p:nvPr/>
        </p:nvSpPr>
        <p:spPr>
          <a:xfrm>
            <a:off x="6096000" y="6488668"/>
            <a:ext cx="6263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Carrier Telephony on High Voltage Power Lines - Wolfe, W. V. </a:t>
            </a:r>
          </a:p>
        </p:txBody>
      </p:sp>
    </p:spTree>
    <p:extLst>
      <p:ext uri="{BB962C8B-B14F-4D97-AF65-F5344CB8AC3E}">
        <p14:creationId xmlns:p14="http://schemas.microsoft.com/office/powerpoint/2010/main" val="2696636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E71484-0068-DF45-940E-E557A84F1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466" y="1761984"/>
            <a:ext cx="10647066" cy="4791180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6BCCA4EA-11D6-CD23-7D61-3BFC22989A97}"/>
              </a:ext>
            </a:extLst>
          </p:cNvPr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855F4C43-E217-15BD-EF74-8E040F02BC90}"/>
              </a:ext>
            </a:extLst>
          </p:cNvPr>
          <p:cNvSpPr/>
          <p:nvPr/>
        </p:nvSpPr>
        <p:spPr>
          <a:xfrm>
            <a:off x="3772775" y="0"/>
            <a:ext cx="7072207" cy="1036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4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Applications</a:t>
            </a:r>
            <a:endParaRPr lang="en-US" sz="4000" noProof="0" dirty="0"/>
          </a:p>
        </p:txBody>
      </p:sp>
    </p:spTree>
    <p:extLst>
      <p:ext uri="{BB962C8B-B14F-4D97-AF65-F5344CB8AC3E}">
        <p14:creationId xmlns:p14="http://schemas.microsoft.com/office/powerpoint/2010/main" val="2588528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467"/>
            <a:ext cx="12192000" cy="10363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Text 1"/>
          <p:cNvSpPr/>
          <p:nvPr/>
        </p:nvSpPr>
        <p:spPr>
          <a:xfrm>
            <a:off x="1766994" y="0"/>
            <a:ext cx="7072207" cy="1036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Residential PLC Network Architecture</a:t>
            </a:r>
            <a:endParaRPr lang="en-US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487680" y="1219200"/>
            <a:ext cx="5364480" cy="4632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867" b="1" noProof="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867" noProof="0" dirty="0"/>
          </a:p>
        </p:txBody>
      </p:sp>
      <p:sp>
        <p:nvSpPr>
          <p:cNvPr id="5" name="Shape 3"/>
          <p:cNvSpPr/>
          <p:nvPr/>
        </p:nvSpPr>
        <p:spPr>
          <a:xfrm>
            <a:off x="487680" y="1816608"/>
            <a:ext cx="512064" cy="512064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487680" y="18166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467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67" noProof="0" dirty="0"/>
          </a:p>
        </p:txBody>
      </p:sp>
      <p:sp>
        <p:nvSpPr>
          <p:cNvPr id="7" name="Text 5"/>
          <p:cNvSpPr/>
          <p:nvPr/>
        </p:nvSpPr>
        <p:spPr>
          <a:xfrm>
            <a:off x="1097280" y="1767840"/>
            <a:ext cx="4754880" cy="6339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6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receives internet signal</a:t>
            </a:r>
            <a:endParaRPr lang="en-US" sz="1600" noProof="0" dirty="0"/>
          </a:p>
        </p:txBody>
      </p:sp>
      <p:sp>
        <p:nvSpPr>
          <p:cNvPr id="8" name="Shape 6"/>
          <p:cNvSpPr/>
          <p:nvPr/>
        </p:nvSpPr>
        <p:spPr>
          <a:xfrm>
            <a:off x="487680" y="2718816"/>
            <a:ext cx="512064" cy="512064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487680" y="2718816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467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67" noProof="0" dirty="0"/>
          </a:p>
        </p:txBody>
      </p:sp>
      <p:sp>
        <p:nvSpPr>
          <p:cNvPr id="10" name="Text 8"/>
          <p:cNvSpPr/>
          <p:nvPr/>
        </p:nvSpPr>
        <p:spPr>
          <a:xfrm>
            <a:off x="1097280" y="2670048"/>
            <a:ext cx="4754880" cy="6339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6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adapter injects high-freq. data signal onto power wiring</a:t>
            </a:r>
            <a:endParaRPr lang="en-US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487680" y="3621024"/>
            <a:ext cx="512064" cy="512064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487680" y="362102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467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67" noProof="0" dirty="0"/>
          </a:p>
        </p:txBody>
      </p:sp>
      <p:sp>
        <p:nvSpPr>
          <p:cNvPr id="13" name="Text 11"/>
          <p:cNvSpPr/>
          <p:nvPr/>
        </p:nvSpPr>
        <p:spPr>
          <a:xfrm>
            <a:off x="1097280" y="3572256"/>
            <a:ext cx="4754880" cy="6339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6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travels through household electrical cables</a:t>
            </a:r>
            <a:endParaRPr lang="en-US" sz="1600" noProof="0" dirty="0"/>
          </a:p>
        </p:txBody>
      </p:sp>
      <p:sp>
        <p:nvSpPr>
          <p:cNvPr id="14" name="Shape 12"/>
          <p:cNvSpPr/>
          <p:nvPr/>
        </p:nvSpPr>
        <p:spPr>
          <a:xfrm>
            <a:off x="487680" y="4523232"/>
            <a:ext cx="512064" cy="512064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487680" y="452323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467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67" noProof="0" dirty="0"/>
          </a:p>
        </p:txBody>
      </p:sp>
      <p:sp>
        <p:nvSpPr>
          <p:cNvPr id="16" name="Text 14"/>
          <p:cNvSpPr/>
          <p:nvPr/>
        </p:nvSpPr>
        <p:spPr>
          <a:xfrm>
            <a:off x="1097280" y="4474464"/>
            <a:ext cx="4754880" cy="6339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6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separates data from power at receiving end</a:t>
            </a:r>
            <a:endParaRPr lang="en-US" sz="1600" noProof="0" dirty="0"/>
          </a:p>
        </p:txBody>
      </p:sp>
      <p:sp>
        <p:nvSpPr>
          <p:cNvPr id="17" name="Shape 15"/>
          <p:cNvSpPr/>
          <p:nvPr/>
        </p:nvSpPr>
        <p:spPr>
          <a:xfrm>
            <a:off x="487680" y="5425440"/>
            <a:ext cx="512064" cy="512064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487680" y="542544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467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67" noProof="0" dirty="0"/>
          </a:p>
        </p:txBody>
      </p:sp>
      <p:sp>
        <p:nvSpPr>
          <p:cNvPr id="19" name="Text 17"/>
          <p:cNvSpPr/>
          <p:nvPr/>
        </p:nvSpPr>
        <p:spPr>
          <a:xfrm>
            <a:off x="1097280" y="5376672"/>
            <a:ext cx="4754880" cy="6339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6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get network access — no new cables needed</a:t>
            </a:r>
            <a:endParaRPr lang="en-US" sz="1600" noProof="0" dirty="0"/>
          </a:p>
        </p:txBody>
      </p:sp>
      <p:sp>
        <p:nvSpPr>
          <p:cNvPr id="20" name="Text 18"/>
          <p:cNvSpPr/>
          <p:nvPr/>
        </p:nvSpPr>
        <p:spPr>
          <a:xfrm>
            <a:off x="487680" y="6400800"/>
            <a:ext cx="5120640" cy="2682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i="1" noProof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[5] Ferreira et al., 1996</a:t>
            </a:r>
            <a:endParaRPr lang="en-US" sz="1200" noProof="0" dirty="0"/>
          </a:p>
        </p:txBody>
      </p:sp>
      <p:sp>
        <p:nvSpPr>
          <p:cNvPr id="21" name="Shape 19"/>
          <p:cNvSpPr/>
          <p:nvPr/>
        </p:nvSpPr>
        <p:spPr>
          <a:xfrm>
            <a:off x="7376160" y="1194816"/>
            <a:ext cx="2926080" cy="792480"/>
          </a:xfrm>
          <a:prstGeom prst="ellipse">
            <a:avLst/>
          </a:prstGeom>
          <a:solidFill>
            <a:srgbClr val="00BCD4">
              <a:alpha val="75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2" name="Text 20"/>
          <p:cNvSpPr/>
          <p:nvPr/>
        </p:nvSpPr>
        <p:spPr>
          <a:xfrm>
            <a:off x="7376160" y="1194816"/>
            <a:ext cx="292608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6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600" noProof="0" dirty="0"/>
          </a:p>
        </p:txBody>
      </p:sp>
      <p:sp>
        <p:nvSpPr>
          <p:cNvPr id="23" name="Shape 21"/>
          <p:cNvSpPr/>
          <p:nvPr/>
        </p:nvSpPr>
        <p:spPr>
          <a:xfrm>
            <a:off x="8839200" y="1987296"/>
            <a:ext cx="0" cy="512064"/>
          </a:xfrm>
          <a:prstGeom prst="line">
            <a:avLst/>
          </a:prstGeom>
          <a:noFill/>
          <a:ln w="254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4" name="Shape 22"/>
          <p:cNvSpPr/>
          <p:nvPr/>
        </p:nvSpPr>
        <p:spPr>
          <a:xfrm>
            <a:off x="7741920" y="2499360"/>
            <a:ext cx="2194560" cy="633984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5" name="Text 23"/>
          <p:cNvSpPr/>
          <p:nvPr/>
        </p:nvSpPr>
        <p:spPr>
          <a:xfrm>
            <a:off x="7741920" y="2499360"/>
            <a:ext cx="2194560" cy="6339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467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467" noProof="0" dirty="0"/>
          </a:p>
        </p:txBody>
      </p:sp>
      <p:sp>
        <p:nvSpPr>
          <p:cNvPr id="26" name="Shape 24"/>
          <p:cNvSpPr/>
          <p:nvPr/>
        </p:nvSpPr>
        <p:spPr>
          <a:xfrm>
            <a:off x="8839200" y="3133344"/>
            <a:ext cx="0" cy="512064"/>
          </a:xfrm>
          <a:prstGeom prst="line">
            <a:avLst/>
          </a:prstGeom>
          <a:noFill/>
          <a:ln w="254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Shape 25"/>
          <p:cNvSpPr/>
          <p:nvPr/>
        </p:nvSpPr>
        <p:spPr>
          <a:xfrm>
            <a:off x="7741920" y="3645408"/>
            <a:ext cx="2194560" cy="6339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26"/>
          <p:cNvSpPr/>
          <p:nvPr/>
        </p:nvSpPr>
        <p:spPr>
          <a:xfrm>
            <a:off x="7741920" y="3645408"/>
            <a:ext cx="2194560" cy="6339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333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Adapter (TX)</a:t>
            </a:r>
            <a:endParaRPr lang="en-US" sz="1333" noProof="0" dirty="0"/>
          </a:p>
        </p:txBody>
      </p:sp>
      <p:sp>
        <p:nvSpPr>
          <p:cNvPr id="29" name="Shape 27"/>
          <p:cNvSpPr/>
          <p:nvPr/>
        </p:nvSpPr>
        <p:spPr>
          <a:xfrm>
            <a:off x="8839200" y="4279392"/>
            <a:ext cx="0" cy="268224"/>
          </a:xfrm>
          <a:prstGeom prst="line">
            <a:avLst/>
          </a:prstGeom>
          <a:noFill/>
          <a:ln w="254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0" name="Shape 28"/>
          <p:cNvSpPr/>
          <p:nvPr/>
        </p:nvSpPr>
        <p:spPr>
          <a:xfrm>
            <a:off x="6858001" y="4547447"/>
            <a:ext cx="4610100" cy="316653"/>
          </a:xfrm>
          <a:prstGeom prst="rect">
            <a:avLst/>
          </a:prstGeom>
          <a:solidFill>
            <a:srgbClr val="E65100">
              <a:alpha val="85000"/>
            </a:srgbClr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1" name="Text 29"/>
          <p:cNvSpPr/>
          <p:nvPr/>
        </p:nvSpPr>
        <p:spPr>
          <a:xfrm>
            <a:off x="6705600" y="4547616"/>
            <a:ext cx="5242560" cy="316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Power Line  (data + power)</a:t>
            </a:r>
            <a:endParaRPr lang="en-US" sz="1200" noProof="0" dirty="0"/>
          </a:p>
        </p:txBody>
      </p:sp>
      <p:sp>
        <p:nvSpPr>
          <p:cNvPr id="32" name="Shape 30"/>
          <p:cNvSpPr/>
          <p:nvPr/>
        </p:nvSpPr>
        <p:spPr>
          <a:xfrm>
            <a:off x="7620000" y="4864608"/>
            <a:ext cx="0" cy="512064"/>
          </a:xfrm>
          <a:prstGeom prst="line">
            <a:avLst/>
          </a:prstGeom>
          <a:noFill/>
          <a:ln w="254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Shape 31"/>
          <p:cNvSpPr/>
          <p:nvPr/>
        </p:nvSpPr>
        <p:spPr>
          <a:xfrm>
            <a:off x="10363200" y="4864608"/>
            <a:ext cx="0" cy="512064"/>
          </a:xfrm>
          <a:prstGeom prst="line">
            <a:avLst/>
          </a:prstGeom>
          <a:noFill/>
          <a:ln w="254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7" name="Shape 35"/>
          <p:cNvSpPr/>
          <p:nvPr/>
        </p:nvSpPr>
        <p:spPr>
          <a:xfrm>
            <a:off x="6827520" y="5376672"/>
            <a:ext cx="1584960" cy="58521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8" name="Text 36"/>
          <p:cNvSpPr/>
          <p:nvPr/>
        </p:nvSpPr>
        <p:spPr>
          <a:xfrm>
            <a:off x="6827520" y="5376672"/>
            <a:ext cx="158496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333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(RX)</a:t>
            </a:r>
            <a:endParaRPr lang="en-US" sz="1333" noProof="0" dirty="0"/>
          </a:p>
        </p:txBody>
      </p:sp>
      <p:sp>
        <p:nvSpPr>
          <p:cNvPr id="39" name="Shape 37"/>
          <p:cNvSpPr/>
          <p:nvPr/>
        </p:nvSpPr>
        <p:spPr>
          <a:xfrm>
            <a:off x="9570720" y="5376672"/>
            <a:ext cx="1584960" cy="58521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0" name="Text 38"/>
          <p:cNvSpPr/>
          <p:nvPr/>
        </p:nvSpPr>
        <p:spPr>
          <a:xfrm>
            <a:off x="9570720" y="5376672"/>
            <a:ext cx="158496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333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(RX)</a:t>
            </a:r>
            <a:endParaRPr lang="en-US" sz="1333" noProof="0" dirty="0"/>
          </a:p>
        </p:txBody>
      </p:sp>
      <p:sp>
        <p:nvSpPr>
          <p:cNvPr id="41" name="Text 39"/>
          <p:cNvSpPr/>
          <p:nvPr/>
        </p:nvSpPr>
        <p:spPr>
          <a:xfrm>
            <a:off x="6827520" y="6035040"/>
            <a:ext cx="158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333" noProof="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TV</a:t>
            </a:r>
            <a:endParaRPr lang="en-US" sz="1333" noProof="0" dirty="0"/>
          </a:p>
        </p:txBody>
      </p:sp>
      <p:sp>
        <p:nvSpPr>
          <p:cNvPr id="42" name="Text 40"/>
          <p:cNvSpPr/>
          <p:nvPr/>
        </p:nvSpPr>
        <p:spPr>
          <a:xfrm>
            <a:off x="9570720" y="6035040"/>
            <a:ext cx="158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333" noProof="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PC</a:t>
            </a:r>
            <a:endParaRPr lang="en-US" sz="1333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Text 1"/>
          <p:cNvSpPr/>
          <p:nvPr/>
        </p:nvSpPr>
        <p:spPr>
          <a:xfrm>
            <a:off x="4330700" y="-48260"/>
            <a:ext cx="3369733" cy="1036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PLC vs. Wi-Fi </a:t>
            </a:r>
            <a:endParaRPr lang="en-US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2302934" y="1219201"/>
            <a:ext cx="1429173" cy="585047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5" name="Text 3"/>
          <p:cNvSpPr/>
          <p:nvPr/>
        </p:nvSpPr>
        <p:spPr>
          <a:xfrm>
            <a:off x="365760" y="1219200"/>
            <a:ext cx="530352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</a:t>
            </a:r>
            <a:endParaRPr lang="en-US" sz="2000" noProof="0" dirty="0"/>
          </a:p>
        </p:txBody>
      </p:sp>
      <p:sp>
        <p:nvSpPr>
          <p:cNvPr id="21" name="Shape 16"/>
          <p:cNvSpPr/>
          <p:nvPr/>
        </p:nvSpPr>
        <p:spPr>
          <a:xfrm>
            <a:off x="8161021" y="1219201"/>
            <a:ext cx="2307167" cy="585047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2" name="Text 17"/>
          <p:cNvSpPr/>
          <p:nvPr/>
        </p:nvSpPr>
        <p:spPr>
          <a:xfrm>
            <a:off x="6522720" y="1219200"/>
            <a:ext cx="530352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</a:t>
            </a:r>
            <a:endParaRPr lang="en-US" sz="2000" noProof="0" dirty="0"/>
          </a:p>
        </p:txBody>
      </p:sp>
      <p:sp>
        <p:nvSpPr>
          <p:cNvPr id="33" name="Shape 26"/>
          <p:cNvSpPr/>
          <p:nvPr/>
        </p:nvSpPr>
        <p:spPr>
          <a:xfrm>
            <a:off x="6120384" y="1219200"/>
            <a:ext cx="0" cy="4462272"/>
          </a:xfrm>
          <a:prstGeom prst="line">
            <a:avLst/>
          </a:prstGeom>
          <a:noFill/>
          <a:ln w="1905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39" name="Picture 38" descr="Screenshot 2026-06-08 at 12.40.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707" y="1987127"/>
            <a:ext cx="4853940" cy="3551767"/>
          </a:xfrm>
          <a:prstGeom prst="rect">
            <a:avLst/>
          </a:prstGeom>
        </p:spPr>
      </p:pic>
      <p:pic>
        <p:nvPicPr>
          <p:cNvPr id="40" name="Picture 39" descr="Screenshot 2026-06-08 at 13.04.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9174" y="2234354"/>
            <a:ext cx="4078393" cy="3414607"/>
          </a:xfrm>
          <a:prstGeom prst="rect">
            <a:avLst/>
          </a:prstGeom>
        </p:spPr>
      </p:pic>
      <p:sp>
        <p:nvSpPr>
          <p:cNvPr id="41" name="Text Box 40"/>
          <p:cNvSpPr txBox="1"/>
          <p:nvPr/>
        </p:nvSpPr>
        <p:spPr>
          <a:xfrm>
            <a:off x="173567" y="5681133"/>
            <a:ext cx="5946987" cy="7823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1067" noProof="0" dirty="0"/>
              <a:t>https://bit-electronix.eu/STRONG-POWERL1000WFDUOEUV2-Powerline-Adapter-1000-Mbit-s-HomePlug-AV2-mit-WLAN-Wi-Fi-5-Gigabit-Ethernet-Eingebaute-Steckdose-2er-Pack-Weiss/POWERL1000WFDUOEUV2-B?srsltid=AfmBOorKLFhGo9cOX4sqe6Q-D7m39huLvb1pVorQQd23vnpV79ju-zYB</a:t>
            </a:r>
          </a:p>
        </p:txBody>
      </p:sp>
      <p:sp>
        <p:nvSpPr>
          <p:cNvPr id="42" name="Text Box 41"/>
          <p:cNvSpPr txBox="1"/>
          <p:nvPr/>
        </p:nvSpPr>
        <p:spPr>
          <a:xfrm>
            <a:off x="6260254" y="5721774"/>
            <a:ext cx="5726007" cy="4207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67" noProof="0" dirty="0"/>
              <a:t>https://img.magnific.com/premium-photo/new-wifi-router-white-wooden-table-against-brick-wall-space-text_495423-56020.jpg?semt=ais_hybrid&amp;w=740&amp;q=80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6-08 at 12.35.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022" y="1167857"/>
            <a:ext cx="8966044" cy="5053529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1"/>
          <p:cNvSpPr/>
          <p:nvPr/>
        </p:nvSpPr>
        <p:spPr>
          <a:xfrm>
            <a:off x="3630357" y="0"/>
            <a:ext cx="4931286" cy="1036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Mixed-medium applications</a:t>
            </a:r>
            <a:endParaRPr lang="en-US" sz="3200" noProof="0" dirty="0"/>
          </a:p>
        </p:txBody>
      </p:sp>
      <p:sp>
        <p:nvSpPr>
          <p:cNvPr id="6" name="Text Box 5"/>
          <p:cNvSpPr txBox="1"/>
          <p:nvPr/>
        </p:nvSpPr>
        <p:spPr>
          <a:xfrm>
            <a:off x="6380044" y="6352923"/>
            <a:ext cx="6989233" cy="4207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67" noProof="0" dirty="0"/>
              <a:t>https://www.coolblue.de/beratung/was-ist-ein-powerline-adapter.html?srsltid=AfmBOoqSkLL6MXCIGVrYFFz0zFCm3wwPmQHnD2SPEzxj-_4C2faRWMKj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211D9-839E-422F-65AC-B1F1BB70C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9B4ADDC9-5C47-2471-E4B6-460468C3A7D9}"/>
              </a:ext>
            </a:extLst>
          </p:cNvPr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6CF03165-C5FE-0F35-9127-255523EDBC41}"/>
              </a:ext>
            </a:extLst>
          </p:cNvPr>
          <p:cNvSpPr/>
          <p:nvPr/>
        </p:nvSpPr>
        <p:spPr>
          <a:xfrm>
            <a:off x="3772775" y="0"/>
            <a:ext cx="7072207" cy="1036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4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Applications</a:t>
            </a:r>
            <a:endParaRPr lang="en-US" sz="4000" noProof="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3D95659-A799-BBC4-667C-1F71569DA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608" y="1885801"/>
            <a:ext cx="5136772" cy="409790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922B24F-69D2-F9F2-614A-EEE90E191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233" y="2578518"/>
            <a:ext cx="5175767" cy="352976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6D306BC-6D0B-3DDF-7AC2-42BBB0985A5E}"/>
              </a:ext>
            </a:extLst>
          </p:cNvPr>
          <p:cNvSpPr txBox="1">
            <a:spLocks/>
          </p:cNvSpPr>
          <p:nvPr/>
        </p:nvSpPr>
        <p:spPr>
          <a:xfrm>
            <a:off x="496529" y="749719"/>
            <a:ext cx="11695471" cy="1586411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softEdge rad="63500"/>
          </a:effectLst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noProof="0" dirty="0"/>
              <a:t>The main problem – heavy machinery, which causes interference.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9B6283-FEF6-1C47-4FCB-EE0E33E5780E}"/>
              </a:ext>
            </a:extLst>
          </p:cNvPr>
          <p:cNvSpPr txBox="1"/>
          <p:nvPr/>
        </p:nvSpPr>
        <p:spPr>
          <a:xfrm>
            <a:off x="0" y="6457890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S. C. Pereira, A. S. Caporali, and I. R. S. Casella, ‘Power line communication technology in industrial networks’, 2015 IEEE International Symposium on Power Line Communications and Its Applications, ISPLC 2015, pp. 216–221, Jul. 2015,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10.1109/ISPLC.2015.7147617.</a:t>
            </a:r>
          </a:p>
        </p:txBody>
      </p:sp>
    </p:spTree>
    <p:extLst>
      <p:ext uri="{BB962C8B-B14F-4D97-AF65-F5344CB8AC3E}">
        <p14:creationId xmlns:p14="http://schemas.microsoft.com/office/powerpoint/2010/main" val="3844600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77C57-FBD4-A710-ED5C-9814195AE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9F8D00B-0F5E-096B-AE82-57046DC86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17"/>
          <a:stretch>
            <a:fillRect/>
          </a:stretch>
        </p:blipFill>
        <p:spPr>
          <a:xfrm>
            <a:off x="6915875" y="3483572"/>
            <a:ext cx="3245530" cy="2957878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02569A7D-1D48-254F-CFF4-E4D7E84C12AC}"/>
              </a:ext>
            </a:extLst>
          </p:cNvPr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3C31C49B-8BC9-5D88-63FA-43CCC21800E4}"/>
              </a:ext>
            </a:extLst>
          </p:cNvPr>
          <p:cNvSpPr/>
          <p:nvPr/>
        </p:nvSpPr>
        <p:spPr>
          <a:xfrm>
            <a:off x="2030594" y="14514"/>
            <a:ext cx="8130811" cy="1036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4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– PWM Motor Loop Back</a:t>
            </a:r>
            <a:endParaRPr lang="en-US" sz="4000" noProof="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282765E-73D1-792A-C044-1F348FFC8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944"/>
          <a:stretch>
            <a:fillRect/>
          </a:stretch>
        </p:blipFill>
        <p:spPr>
          <a:xfrm>
            <a:off x="6513093" y="1136027"/>
            <a:ext cx="4459705" cy="240727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29BF788-CCEA-1CAB-FEE1-5894F8B89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741"/>
          <a:stretch>
            <a:fillRect/>
          </a:stretch>
        </p:blipFill>
        <p:spPr>
          <a:xfrm>
            <a:off x="1154533" y="3200268"/>
            <a:ext cx="3352687" cy="287329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A938162-164B-8B8C-525A-06426B1C67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8" y="1254151"/>
            <a:ext cx="5245770" cy="17428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4046425-70BD-CDB6-FEA4-54D1E277E11C}"/>
              </a:ext>
            </a:extLst>
          </p:cNvPr>
          <p:cNvSpPr txBox="1"/>
          <p:nvPr/>
        </p:nvSpPr>
        <p:spPr>
          <a:xfrm>
            <a:off x="0" y="6441450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N. Ginot, M. A. Mannah, C. Batard, and M.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Machmoum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‘Application of Power Line Communication for Data Transmission Over PWM Network’, IEEE Trans Smart Grid, vol. 1, no. 2, pp. 178–185, Sep. 2010,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10.1109/TSG.2010.2053225.</a:t>
            </a:r>
          </a:p>
        </p:txBody>
      </p:sp>
    </p:spTree>
    <p:extLst>
      <p:ext uri="{BB962C8B-B14F-4D97-AF65-F5344CB8AC3E}">
        <p14:creationId xmlns:p14="http://schemas.microsoft.com/office/powerpoint/2010/main" val="1087231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7D5E2-7954-3E9C-8712-22F3F3571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B8D15EE3-6C9F-FA9A-3989-72C7E52AF0C4}"/>
              </a:ext>
            </a:extLst>
          </p:cNvPr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2625163-C954-E04B-D253-2B65B2E0A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785" y="1065348"/>
            <a:ext cx="3696560" cy="213599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04858A6-8DDF-C8B0-5111-C9A4C91B0B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547"/>
          <a:stretch>
            <a:fillRect/>
          </a:stretch>
        </p:blipFill>
        <p:spPr>
          <a:xfrm>
            <a:off x="1779551" y="3531875"/>
            <a:ext cx="3472363" cy="282980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CBA139-5DA8-9940-707A-0659EF0ED5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434" y="1036320"/>
            <a:ext cx="2810598" cy="241578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BEE74AD-E78C-8B99-89E3-C5A305DD67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242"/>
          <a:stretch>
            <a:fillRect/>
          </a:stretch>
        </p:blipFill>
        <p:spPr>
          <a:xfrm>
            <a:off x="6461883" y="3126818"/>
            <a:ext cx="3472363" cy="3274747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33068876-1101-0B93-76AF-0074D4342422}"/>
              </a:ext>
            </a:extLst>
          </p:cNvPr>
          <p:cNvSpPr/>
          <p:nvPr/>
        </p:nvSpPr>
        <p:spPr>
          <a:xfrm>
            <a:off x="2030594" y="14514"/>
            <a:ext cx="8130811" cy="1036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4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– PWM Motor Loop Back</a:t>
            </a:r>
            <a:endParaRPr lang="en-US" sz="4000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BACBCE-3A35-AE3F-44F9-5E67186D0D80}"/>
              </a:ext>
            </a:extLst>
          </p:cNvPr>
          <p:cNvSpPr txBox="1"/>
          <p:nvPr/>
        </p:nvSpPr>
        <p:spPr>
          <a:xfrm>
            <a:off x="0" y="6441450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N. Ginot, M. A. Mannah, C. Batard, and M.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Machmoum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‘Application of Power Line Communication for Data Transmission Over PWM Network’, IEEE Trans Smart Grid, vol. 1, no. 2, pp. 178–185, Sep. 2010,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10.1109/TSG.2010.2053225.</a:t>
            </a:r>
          </a:p>
        </p:txBody>
      </p:sp>
    </p:spTree>
    <p:extLst>
      <p:ext uri="{BB962C8B-B14F-4D97-AF65-F5344CB8AC3E}">
        <p14:creationId xmlns:p14="http://schemas.microsoft.com/office/powerpoint/2010/main" val="464278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2F567-7178-FB93-8151-3FC987538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A69CBAEA-3582-775E-B470-B4101458D659}"/>
              </a:ext>
            </a:extLst>
          </p:cNvPr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88F7CAA1-A00B-00EA-89F8-432ACBF1F723}"/>
              </a:ext>
            </a:extLst>
          </p:cNvPr>
          <p:cNvSpPr/>
          <p:nvPr/>
        </p:nvSpPr>
        <p:spPr>
          <a:xfrm>
            <a:off x="3772775" y="0"/>
            <a:ext cx="7072207" cy="1036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4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Applications</a:t>
            </a:r>
            <a:endParaRPr lang="en-US" sz="4000" noProof="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E952877-4B6A-94C1-A7EB-85A2F4BA8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13" y="1327377"/>
            <a:ext cx="4956188" cy="284949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7E45E0-973F-BFF4-70A7-A7B1A9833B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401" y="1532924"/>
            <a:ext cx="4695825" cy="24384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BB19DD8-A051-0EB3-CB52-B113F4D0A3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401" y="4467928"/>
            <a:ext cx="4619625" cy="161925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53DB5ACA-BA77-9430-814F-980489798C1E}"/>
              </a:ext>
            </a:extLst>
          </p:cNvPr>
          <p:cNvSpPr txBox="1">
            <a:spLocks/>
          </p:cNvSpPr>
          <p:nvPr/>
        </p:nvSpPr>
        <p:spPr>
          <a:xfrm>
            <a:off x="422436" y="4737417"/>
            <a:ext cx="5673564" cy="1586411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softEdge rad="63500"/>
          </a:effectLst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noProof="0" dirty="0"/>
              <a:t>And even though authors manage to make it work, the decrease of the data rate with higher PWM operating voltages and load current still significant.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CCB35B-B049-3364-68AB-89015F18C896}"/>
              </a:ext>
            </a:extLst>
          </p:cNvPr>
          <p:cNvSpPr txBox="1"/>
          <p:nvPr/>
        </p:nvSpPr>
        <p:spPr>
          <a:xfrm>
            <a:off x="0" y="6441450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N. Ginot, M. A. Mannah, C. Batard, and M.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Machmoum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‘Application of Power Line Communication for Data Transmission Over PWM Network’, IEEE Trans Smart Grid, vol. 1, no. 2, pp. 178–185, Sep. 2010,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doi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10.1109/TSG.2010.2053225.</a:t>
            </a:r>
          </a:p>
        </p:txBody>
      </p:sp>
    </p:spTree>
    <p:extLst>
      <p:ext uri="{BB962C8B-B14F-4D97-AF65-F5344CB8AC3E}">
        <p14:creationId xmlns:p14="http://schemas.microsoft.com/office/powerpoint/2010/main" val="1710582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05D4CD-1827-7BFE-EEBE-8AECB2193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44286"/>
            <a:ext cx="12192000" cy="740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014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631</Words>
  <Application>Microsoft Office PowerPoint</Application>
  <PresentationFormat>Широкоэкранный</PresentationFormat>
  <Paragraphs>61</Paragraphs>
  <Slides>15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 Line Communication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Petr Lavrenov</dc:creator>
  <cp:lastModifiedBy>Oleg Kelner</cp:lastModifiedBy>
  <cp:revision>4</cp:revision>
  <dcterms:created xsi:type="dcterms:W3CDTF">2026-06-09T08:09:05Z</dcterms:created>
  <dcterms:modified xsi:type="dcterms:W3CDTF">2026-06-10T07:20:27Z</dcterms:modified>
</cp:coreProperties>
</file>