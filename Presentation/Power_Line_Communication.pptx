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8CE7B"/>
    <a:srgbClr val="F5D27E"/>
    <a:srgbClr val="FBDD9D"/>
    <a:srgbClr val="F0F0F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4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7EB86C6-D36A-475F-B777-0E160A364822}" type="datetimeFigureOut">
              <a:rPr lang="en-GB" smtClean="0"/>
              <a:t>09/06/2026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BC6FA61-3EE4-4E13-A876-F1759C14345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4771939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C6FA61-3EE4-4E13-A876-F1759C143452}" type="slidenum">
              <a:rPr lang="en-GB" smtClean="0"/>
              <a:t>3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2465005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C6FA61-3EE4-4E13-A876-F1759C143452}" type="slidenum">
              <a:rPr lang="en-GB" smtClean="0"/>
              <a:t>4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12515935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2B7F54-6FBC-9850-5975-527C7AEC649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CCFB6E9-E814-CF2E-B235-1B03EEDAE9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F22646F-1436-ABA1-4222-EB37D45E1C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B98FEB-4B18-444D-99A7-73AB8A9E2233}" type="datetimeFigureOut">
              <a:rPr lang="en-GB" smtClean="0"/>
              <a:t>09/06/2026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B4D241-5109-066C-F316-DEF6CF3695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50B375B-1978-CBF3-0227-F80B30988B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E6179-1F21-4AAD-8CF6-DC9DD4DF8B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521510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4E77B9-028B-7174-1AC8-E96B64AEFD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B43FA4-9F41-8705-42A9-589D190F68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E7623A4-EE5E-367B-D72C-E45A981DB0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B98FEB-4B18-444D-99A7-73AB8A9E2233}" type="datetimeFigureOut">
              <a:rPr lang="en-GB" smtClean="0"/>
              <a:t>09/06/2026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922E28-F699-5C16-4F13-DD49E10175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831839-9FAF-8B03-7423-968317ABE6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E6179-1F21-4AAD-8CF6-DC9DD4DF8B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921548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332C02-6B8F-23D2-06BC-6119C89193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3EEA181-B7F9-FAF9-7DDE-112C1330D34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7FB528-7709-EEDF-886F-DF589F1ECB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B98FEB-4B18-444D-99A7-73AB8A9E2233}" type="datetimeFigureOut">
              <a:rPr lang="en-GB" smtClean="0"/>
              <a:t>09/06/2026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11B699-5E15-A2A7-4F8A-D20DCE10A9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524D76-142E-F377-183C-79D98F771C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E6179-1F21-4AAD-8CF6-DC9DD4DF8B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972880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8CD58A-7A70-687D-22D1-B828883465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7A3E3F-75CE-3BD5-7FE2-FDECAE8B8F4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3F4EC91-35FC-3930-0F05-C7D99AC6F7D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C4BD20D-6AE4-69FA-36F9-DF6343D2A7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B98FEB-4B18-444D-99A7-73AB8A9E2233}" type="datetimeFigureOut">
              <a:rPr lang="en-GB" smtClean="0"/>
              <a:t>09/06/2026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3C3AD3F-F560-FC83-A0F3-44126F559B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0C45276-2871-E16C-4D56-551D8DD158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E6179-1F21-4AAD-8CF6-DC9DD4DF8B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095878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0B8D0A-9902-AFCF-0975-0D96DE3445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0C8F201-8270-C74C-1C18-F37B12309B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315ADDF-A68A-D241-114C-868F204B74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420175A-FB5C-A3FD-B693-DACD2A92C2C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A854F18-3E62-4CFC-A797-280963B89ED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8AD986C-8FFA-94DE-295E-21A8757404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B98FEB-4B18-444D-99A7-73AB8A9E2233}" type="datetimeFigureOut">
              <a:rPr lang="en-GB" smtClean="0"/>
              <a:t>09/06/2026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C7CD2A8-8BE2-439C-7BC8-F28ACA8C7D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DB92C25-7658-59F8-2F30-CD9EF78C93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E6179-1F21-4AAD-8CF6-DC9DD4DF8B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597031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93B81D-648A-193B-91B7-BD2EF4DD6F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250CB35-DD1B-707E-629E-D88EE2154F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B98FEB-4B18-444D-99A7-73AB8A9E2233}" type="datetimeFigureOut">
              <a:rPr lang="en-GB" smtClean="0"/>
              <a:t>09/06/2026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0714728-23FA-3D6F-F521-715F0A6BB8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5A6BAEA-1AE8-272C-5A8F-DD9BA652B6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E6179-1F21-4AAD-8CF6-DC9DD4DF8B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535594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467B2DA-A8E7-A5A9-2729-87A24428FB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B98FEB-4B18-444D-99A7-73AB8A9E2233}" type="datetimeFigureOut">
              <a:rPr lang="en-GB" smtClean="0"/>
              <a:t>09/06/2026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9C52902-9913-D7C3-56B9-9514D71349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0C0331-E74B-E8B6-9F0D-231A68B8B2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E6179-1F21-4AAD-8CF6-DC9DD4DF8B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141289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76BAA8-952F-114C-9245-4C362CB14F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AF602E-CD94-E3F8-5660-F5FD0E18D5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D7EF0B1-6877-92E1-072F-0A82062CBF9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154252C-93EA-20A0-77DD-CFDDC2094C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B98FEB-4B18-444D-99A7-73AB8A9E2233}" type="datetimeFigureOut">
              <a:rPr lang="en-GB" smtClean="0"/>
              <a:t>09/06/2026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C014B7C-D079-86E3-5A92-DBCC978A6D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954DA97-CEAA-E5FB-7B31-C6844259B6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E6179-1F21-4AAD-8CF6-DC9DD4DF8B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641358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F73A98-CBD8-A1E4-873B-A7E6EB0A54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E3571F0-076B-5149-4DB2-463A4124B6E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94AFF2E-1F32-25EF-BCB8-43AE2B5AC8E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AFBF704-C8F4-DC5B-4831-F5FC605307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B98FEB-4B18-444D-99A7-73AB8A9E2233}" type="datetimeFigureOut">
              <a:rPr lang="en-GB" smtClean="0"/>
              <a:t>09/06/2026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59A48D7-4F73-C0BC-A542-18473000A3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2691F92-5AED-0552-D6C0-667335B02E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E6179-1F21-4AAD-8CF6-DC9DD4DF8B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56395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20136E-34F9-F802-03C1-9449B56BBF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9ECEC0A-6253-2F5C-2A6B-6296A1F65E5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D50CE0-47D8-68E6-AFA7-AC8D895DE5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B98FEB-4B18-444D-99A7-73AB8A9E2233}" type="datetimeFigureOut">
              <a:rPr lang="en-GB" smtClean="0"/>
              <a:t>09/06/2026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AA4BD4-BE47-54E7-B3C5-D09072FFE6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673BB47-0495-3683-3F52-599980C1C9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E6179-1F21-4AAD-8CF6-DC9DD4DF8B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348061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BBD8E34-3BE7-D701-44E1-4E2D2926CFD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7D75A2-07E9-C9CE-22B9-5E563CF9B58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39EB71-7299-55A8-C0CC-BC8D56A57D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B98FEB-4B18-444D-99A7-73AB8A9E2233}" type="datetimeFigureOut">
              <a:rPr lang="en-GB" smtClean="0"/>
              <a:t>09/06/2026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1DF460-FC8C-2E6E-A413-E2465F6005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9C30CC-FE8F-8A7E-C575-7511B47761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E6179-1F21-4AAD-8CF6-DC9DD4DF8B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0593179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392788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A19DD7B-E481-4AF9-B77C-EB6C1A4F3F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10EF7AD-07FE-F99D-C750-5D1A3E266F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C34A68-2F40-C9C9-1158-2F8DEB13D52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3B98FEB-4B18-444D-99A7-73AB8A9E2233}" type="datetimeFigureOut">
              <a:rPr lang="en-GB" smtClean="0"/>
              <a:t>09/06/2026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EFEB1F-25E7-48C1-A2D8-EDDAE8D8098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3DF1E1-001E-DF99-43C6-CD55A23C47C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21E6179-1F21-4AAD-8CF6-DC9DD4DF8B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407156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stadtwerke-lippstadt.com/" TargetMode="Externa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microsoft.com/office/2007/relationships/hdphoto" Target="../media/hdphoto1.wdp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0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jp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g"/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jp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0E45BC-E474-EB10-40F3-827FD8FBB9A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1748" y="860612"/>
            <a:ext cx="4051311" cy="1408823"/>
          </a:xfrm>
          <a:solidFill>
            <a:srgbClr val="F8CE7B">
              <a:alpha val="48000"/>
            </a:srgbClr>
          </a:solidFill>
          <a:ln>
            <a:solidFill>
              <a:schemeClr val="accent1"/>
            </a:solidFill>
          </a:ln>
          <a:effectLst>
            <a:softEdge rad="63500"/>
          </a:effectLst>
        </p:spPr>
        <p:txBody>
          <a:bodyPr>
            <a:noAutofit/>
          </a:bodyPr>
          <a:lstStyle/>
          <a:p>
            <a:r>
              <a:rPr lang="en-US" sz="4400" noProof="0" dirty="0"/>
              <a:t>Power Line Communication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9DFBC5E-08C4-132F-599F-ACDF5A8C490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1748" y="3186953"/>
            <a:ext cx="4051311" cy="1842248"/>
          </a:xfrm>
          <a:solidFill>
            <a:srgbClr val="00B0F0">
              <a:alpha val="21000"/>
            </a:srgbClr>
          </a:solidFill>
          <a:ln>
            <a:solidFill>
              <a:schemeClr val="accent1"/>
            </a:solidFill>
          </a:ln>
          <a:effectLst>
            <a:softEdge rad="114300"/>
          </a:effectLst>
        </p:spPr>
        <p:txBody>
          <a:bodyPr>
            <a:normAutofit lnSpcReduction="10000"/>
          </a:bodyPr>
          <a:lstStyle/>
          <a:p>
            <a:br>
              <a:rPr lang="en-US" sz="3200" noProof="0" dirty="0"/>
            </a:br>
            <a:r>
              <a:rPr lang="en-US" sz="3200" noProof="0" dirty="0"/>
              <a:t>Petr Lavrenov</a:t>
            </a:r>
            <a:br>
              <a:rPr lang="en-US" sz="3200" noProof="0" dirty="0"/>
            </a:br>
            <a:r>
              <a:rPr lang="en-US" sz="3200" noProof="0" dirty="0"/>
              <a:t>Hany Chowdhury</a:t>
            </a:r>
            <a:br>
              <a:rPr lang="en-US" sz="3200" noProof="0" dirty="0"/>
            </a:br>
            <a:r>
              <a:rPr lang="en-US" sz="3200" noProof="0" dirty="0"/>
              <a:t>Oleg Kelner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6664A9A-F6DE-A852-6A0D-2B97394021F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14022" y="0"/>
            <a:ext cx="7677978" cy="6858000"/>
          </a:xfrm>
          <a:prstGeom prst="rect">
            <a:avLst/>
          </a:prstGeom>
          <a:effectLst>
            <a:softEdge rad="114300"/>
          </a:effec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8FD7199-CE16-B21E-9878-B6C47735182C}"/>
              </a:ext>
            </a:extLst>
          </p:cNvPr>
          <p:cNvSpPr txBox="1"/>
          <p:nvPr/>
        </p:nvSpPr>
        <p:spPr>
          <a:xfrm>
            <a:off x="1847098" y="2405028"/>
            <a:ext cx="609151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noProof="0" dirty="0"/>
              <a:t>By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1D51365-EDD8-9FA0-51E2-44942D509099}"/>
              </a:ext>
            </a:extLst>
          </p:cNvPr>
          <p:cNvSpPr txBox="1"/>
          <p:nvPr/>
        </p:nvSpPr>
        <p:spPr>
          <a:xfrm>
            <a:off x="8524568" y="6488668"/>
            <a:ext cx="378466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noProof="0" dirty="0"/>
              <a:t>https://the-electric-orphanage.com</a:t>
            </a:r>
          </a:p>
        </p:txBody>
      </p:sp>
    </p:spTree>
    <p:extLst>
      <p:ext uri="{BB962C8B-B14F-4D97-AF65-F5344CB8AC3E}">
        <p14:creationId xmlns:p14="http://schemas.microsoft.com/office/powerpoint/2010/main" val="206483538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066F40D-7F05-3484-DA53-802549F4645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5430" y="2052444"/>
            <a:ext cx="11936622" cy="423274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33DD524-77B7-3E51-F719-CC0910A9EBF9}"/>
              </a:ext>
            </a:extLst>
          </p:cNvPr>
          <p:cNvSpPr txBox="1"/>
          <p:nvPr/>
        </p:nvSpPr>
        <p:spPr>
          <a:xfrm>
            <a:off x="6940738" y="6211669"/>
            <a:ext cx="609432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noProof="0" dirty="0"/>
              <a:t>https://circuitdigest.com/article/what-is-power-line-communication-plc-and-how-does-it-work</a:t>
            </a:r>
          </a:p>
        </p:txBody>
      </p:sp>
      <p:sp>
        <p:nvSpPr>
          <p:cNvPr id="14" name="Subtitle 2">
            <a:extLst>
              <a:ext uri="{FF2B5EF4-FFF2-40B4-BE49-F238E27FC236}">
                <a16:creationId xmlns:a16="http://schemas.microsoft.com/office/drawing/2014/main" id="{8AC9F093-0ED3-0C44-3B96-A3A0A0E8790D}"/>
              </a:ext>
            </a:extLst>
          </p:cNvPr>
          <p:cNvSpPr txBox="1">
            <a:spLocks/>
          </p:cNvSpPr>
          <p:nvPr/>
        </p:nvSpPr>
        <p:spPr>
          <a:xfrm>
            <a:off x="754165" y="226107"/>
            <a:ext cx="9274089" cy="1431872"/>
          </a:xfrm>
          <a:prstGeom prst="rect">
            <a:avLst/>
          </a:prstGeom>
          <a:solidFill>
            <a:srgbClr val="00B0F0">
              <a:alpha val="21000"/>
            </a:srgbClr>
          </a:solidFill>
          <a:ln>
            <a:solidFill>
              <a:schemeClr val="accent1"/>
            </a:solidFill>
          </a:ln>
          <a:effectLst>
            <a:softEdge rad="114300"/>
          </a:effectLst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en-US" sz="5400" noProof="0" dirty="0"/>
              <a:t>Basic Principle:</a:t>
            </a:r>
            <a:endParaRPr lang="en-US" sz="3200" noProof="0" dirty="0"/>
          </a:p>
        </p:txBody>
      </p:sp>
    </p:spTree>
    <p:extLst>
      <p:ext uri="{BB962C8B-B14F-4D97-AF65-F5344CB8AC3E}">
        <p14:creationId xmlns:p14="http://schemas.microsoft.com/office/powerpoint/2010/main" val="227042813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07351A-DED4-F835-FB6C-D2C6CA967D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B4CAADB-2C10-7AFB-2526-C88C5A85CC9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59230"/>
            <a:ext cx="12192000" cy="697645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37DEE0C5-8919-0C2A-8DFA-01C1A9BE09E5}"/>
              </a:ext>
            </a:extLst>
          </p:cNvPr>
          <p:cNvSpPr txBox="1"/>
          <p:nvPr/>
        </p:nvSpPr>
        <p:spPr>
          <a:xfrm>
            <a:off x="334296" y="454431"/>
            <a:ext cx="609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noProof="0" dirty="0"/>
              <a:t>M1 carrier telephone system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CC82E1E-ABC7-7D63-DBF8-3382674C3809}"/>
              </a:ext>
            </a:extLst>
          </p:cNvPr>
          <p:cNvSpPr txBox="1"/>
          <p:nvPr/>
        </p:nvSpPr>
        <p:spPr>
          <a:xfrm>
            <a:off x="8524568" y="6488668"/>
            <a:ext cx="378466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noProof="0" dirty="0"/>
              <a:t>https://the-electric-orphanage.com</a:t>
            </a:r>
          </a:p>
        </p:txBody>
      </p:sp>
    </p:spTree>
    <p:extLst>
      <p:ext uri="{BB962C8B-B14F-4D97-AF65-F5344CB8AC3E}">
        <p14:creationId xmlns:p14="http://schemas.microsoft.com/office/powerpoint/2010/main" val="14613569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55DC95-C098-10CC-F557-4B2F26087C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ubtitle 2">
            <a:extLst>
              <a:ext uri="{FF2B5EF4-FFF2-40B4-BE49-F238E27FC236}">
                <a16:creationId xmlns:a16="http://schemas.microsoft.com/office/drawing/2014/main" id="{14ABD5F6-0F7B-43E8-AF63-91FC8F239BF6}"/>
              </a:ext>
            </a:extLst>
          </p:cNvPr>
          <p:cNvSpPr txBox="1">
            <a:spLocks/>
          </p:cNvSpPr>
          <p:nvPr/>
        </p:nvSpPr>
        <p:spPr>
          <a:xfrm>
            <a:off x="191729" y="226107"/>
            <a:ext cx="11695471" cy="1431872"/>
          </a:xfrm>
          <a:prstGeom prst="rect">
            <a:avLst/>
          </a:prstGeom>
          <a:solidFill>
            <a:srgbClr val="00B0F0">
              <a:alpha val="21000"/>
            </a:srgbClr>
          </a:solidFill>
          <a:ln>
            <a:solidFill>
              <a:schemeClr val="accent1"/>
            </a:solidFill>
          </a:ln>
          <a:effectLst>
            <a:softEdge rad="114300"/>
          </a:effectLst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en-US" sz="5400" noProof="0" dirty="0"/>
              <a:t>Challenges of PLC:</a:t>
            </a:r>
            <a:endParaRPr lang="en-US" sz="3200" noProof="0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488BAF21-9325-CFDA-F702-0BF7A2B4BBB3}"/>
              </a:ext>
            </a:extLst>
          </p:cNvPr>
          <p:cNvSpPr txBox="1">
            <a:spLocks/>
          </p:cNvSpPr>
          <p:nvPr/>
        </p:nvSpPr>
        <p:spPr>
          <a:xfrm>
            <a:off x="191728" y="1657979"/>
            <a:ext cx="11695471" cy="5057453"/>
          </a:xfrm>
          <a:prstGeom prst="rect">
            <a:avLst/>
          </a:prstGeom>
          <a:solidFill>
            <a:srgbClr val="F8CE7B">
              <a:alpha val="48000"/>
            </a:srgbClr>
          </a:solidFill>
          <a:ln>
            <a:solidFill>
              <a:schemeClr val="accent1"/>
            </a:solidFill>
          </a:ln>
          <a:effectLst>
            <a:softEdge rad="63500"/>
          </a:effectLst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noProof="0" dirty="0"/>
              <a:t>In the M1 carrier telephone system in 1925, Wolfe and co-authors identified three main development problems:</a:t>
            </a:r>
            <a:br>
              <a:rPr lang="en-US" sz="2400" noProof="0" dirty="0"/>
            </a:br>
            <a:endParaRPr lang="en-US" sz="2400" noProof="0" dirty="0"/>
          </a:p>
          <a:p>
            <a:r>
              <a:rPr lang="en-US" sz="2400" b="1" noProof="0" dirty="0"/>
              <a:t>1) Understanding the line </a:t>
            </a:r>
            <a:r>
              <a:rPr lang="en-US" sz="2400" b="1" noProof="0" dirty="0" err="1"/>
              <a:t>behaviour</a:t>
            </a:r>
            <a:r>
              <a:rPr lang="en-US" sz="2400" b="1" noProof="0" dirty="0"/>
              <a:t>:</a:t>
            </a:r>
          </a:p>
          <a:p>
            <a:r>
              <a:rPr lang="en-US" sz="2400" noProof="0" dirty="0"/>
              <a:t>	The high-frequency </a:t>
            </a:r>
            <a:r>
              <a:rPr lang="en-US" sz="2400" noProof="0" dirty="0" err="1"/>
              <a:t>behaviour</a:t>
            </a:r>
            <a:r>
              <a:rPr lang="en-US" sz="2400" noProof="0" dirty="0"/>
              <a:t> of power lines and related equipment had to be studied together with power companies.</a:t>
            </a:r>
            <a:br>
              <a:rPr lang="en-US" sz="2400" noProof="0" dirty="0"/>
            </a:br>
            <a:endParaRPr lang="en-US" sz="2400" noProof="0" dirty="0"/>
          </a:p>
          <a:p>
            <a:r>
              <a:rPr lang="en-US" sz="2400" b="1" noProof="0" dirty="0"/>
              <a:t>2) Coupling to high-voltage lines:</a:t>
            </a:r>
          </a:p>
          <a:p>
            <a:r>
              <a:rPr lang="en-US" sz="2400" noProof="0" dirty="0"/>
              <a:t>	A safe and efficient way was needed to connect carrier communication equipment to high-voltage conductors.</a:t>
            </a:r>
            <a:br>
              <a:rPr lang="en-US" sz="2400" noProof="0" dirty="0"/>
            </a:br>
            <a:endParaRPr lang="en-US" sz="2400" noProof="0" dirty="0"/>
          </a:p>
          <a:p>
            <a:r>
              <a:rPr lang="en-US" sz="2400" b="1" noProof="0" dirty="0"/>
              <a:t>3) Developing the communication equipment:</a:t>
            </a:r>
          </a:p>
          <a:p>
            <a:r>
              <a:rPr lang="en-US" sz="2400" noProof="0" dirty="0"/>
              <a:t>	Only after the line </a:t>
            </a:r>
            <a:r>
              <a:rPr lang="en-US" sz="2400" noProof="0" dirty="0" err="1"/>
              <a:t>behaviour</a:t>
            </a:r>
            <a:r>
              <a:rPr lang="en-US" sz="2400" noProof="0" dirty="0"/>
              <a:t> and coupling problems were understood could the actual communication circuits and devices be designed.</a:t>
            </a:r>
          </a:p>
        </p:txBody>
      </p:sp>
    </p:spTree>
    <p:extLst>
      <p:ext uri="{BB962C8B-B14F-4D97-AF65-F5344CB8AC3E}">
        <p14:creationId xmlns:p14="http://schemas.microsoft.com/office/powerpoint/2010/main" val="157735104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FEB3B1C-DB00-6350-C667-05D2BD82DE1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8260" y="129163"/>
            <a:ext cx="8207451" cy="123454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6C6B106-105D-B7FB-37DA-0A115F32278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8260" y="1587941"/>
            <a:ext cx="6044640" cy="483116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A1C609F-C4F6-A6E0-3772-2668B6B0265A}"/>
              </a:ext>
            </a:extLst>
          </p:cNvPr>
          <p:cNvSpPr txBox="1"/>
          <p:nvPr/>
        </p:nvSpPr>
        <p:spPr>
          <a:xfrm>
            <a:off x="8179602" y="6211669"/>
            <a:ext cx="401239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noProof="0" dirty="0">
                <a:hlinkClick r:id="rId4"/>
              </a:rPr>
              <a:t>https://www.stadtwerke-lippstadt.com</a:t>
            </a:r>
            <a:r>
              <a:rPr lang="en-US" noProof="0" dirty="0"/>
              <a:t> Translated With Google Translate</a:t>
            </a:r>
          </a:p>
        </p:txBody>
      </p:sp>
    </p:spTree>
    <p:extLst>
      <p:ext uri="{BB962C8B-B14F-4D97-AF65-F5344CB8AC3E}">
        <p14:creationId xmlns:p14="http://schemas.microsoft.com/office/powerpoint/2010/main" val="10582575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2A960B5-F494-12D4-FFA1-63855681F79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52538" y="223818"/>
            <a:ext cx="6454699" cy="538780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6580306-9247-BF90-C813-A834B0EA0BE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46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57056" y="223818"/>
            <a:ext cx="5989839" cy="6035563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D90E084E-7C4E-1A00-E5DC-237B1191A61D}"/>
              </a:ext>
            </a:extLst>
          </p:cNvPr>
          <p:cNvSpPr txBox="1"/>
          <p:nvPr/>
        </p:nvSpPr>
        <p:spPr>
          <a:xfrm>
            <a:off x="6096000" y="6488668"/>
            <a:ext cx="626314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noProof="0" dirty="0"/>
              <a:t>Carrier Telephony on High Voltage Power Lines - Wolfe, W. V. </a:t>
            </a:r>
          </a:p>
        </p:txBody>
      </p:sp>
    </p:spTree>
    <p:extLst>
      <p:ext uri="{BB962C8B-B14F-4D97-AF65-F5344CB8AC3E}">
        <p14:creationId xmlns:p14="http://schemas.microsoft.com/office/powerpoint/2010/main" val="26966366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DE71484-0068-DF45-940E-E557A84F170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2466" y="1761984"/>
            <a:ext cx="10647066" cy="4791180"/>
          </a:xfrm>
          <a:prstGeom prst="rect">
            <a:avLst/>
          </a:prstGeom>
          <a:effectLst>
            <a:softEdge rad="25400"/>
          </a:effectLst>
        </p:spPr>
      </p:pic>
      <p:sp>
        <p:nvSpPr>
          <p:cNvPr id="8" name="Shape 0">
            <a:extLst>
              <a:ext uri="{FF2B5EF4-FFF2-40B4-BE49-F238E27FC236}">
                <a16:creationId xmlns:a16="http://schemas.microsoft.com/office/drawing/2014/main" id="{6BCCA4EA-11D6-CD23-7D61-3BFC22989A97}"/>
              </a:ext>
            </a:extLst>
          </p:cNvPr>
          <p:cNvSpPr/>
          <p:nvPr/>
        </p:nvSpPr>
        <p:spPr>
          <a:xfrm>
            <a:off x="0" y="0"/>
            <a:ext cx="12192000" cy="1036320"/>
          </a:xfrm>
          <a:prstGeom prst="rect">
            <a:avLst/>
          </a:prstGeom>
          <a:solidFill>
            <a:srgbClr val="0D2B55"/>
          </a:solidFill>
          <a:ln w="12700">
            <a:solidFill>
              <a:srgbClr val="0D2B55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0" name="Text 1">
            <a:extLst>
              <a:ext uri="{FF2B5EF4-FFF2-40B4-BE49-F238E27FC236}">
                <a16:creationId xmlns:a16="http://schemas.microsoft.com/office/drawing/2014/main" id="{855F4C43-E217-15BD-EF74-8E040F02BC90}"/>
              </a:ext>
            </a:extLst>
          </p:cNvPr>
          <p:cNvSpPr/>
          <p:nvPr/>
        </p:nvSpPr>
        <p:spPr>
          <a:xfrm>
            <a:off x="3772775" y="0"/>
            <a:ext cx="7072207" cy="1036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r>
              <a:rPr lang="en-US" sz="40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 Applications</a:t>
            </a:r>
            <a:endParaRPr lang="en-US" sz="4000" noProof="0" dirty="0"/>
          </a:p>
        </p:txBody>
      </p:sp>
    </p:spTree>
    <p:extLst>
      <p:ext uri="{BB962C8B-B14F-4D97-AF65-F5344CB8AC3E}">
        <p14:creationId xmlns:p14="http://schemas.microsoft.com/office/powerpoint/2010/main" val="25885285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8467"/>
            <a:ext cx="12192000" cy="1036320"/>
          </a:xfrm>
          <a:prstGeom prst="rect">
            <a:avLst/>
          </a:prstGeom>
          <a:solidFill>
            <a:srgbClr val="0D2B55"/>
          </a:solidFill>
          <a:ln w="12700">
            <a:solidFill>
              <a:srgbClr val="0D2B55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3" name="Text 1"/>
          <p:cNvSpPr/>
          <p:nvPr/>
        </p:nvSpPr>
        <p:spPr>
          <a:xfrm>
            <a:off x="1766994" y="0"/>
            <a:ext cx="7072207" cy="1036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r>
              <a:rPr lang="en-US" sz="28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Residential PLC Network Architecture</a:t>
            </a:r>
            <a:endParaRPr lang="en-US" sz="2800" noProof="0" dirty="0"/>
          </a:p>
        </p:txBody>
      </p:sp>
      <p:sp>
        <p:nvSpPr>
          <p:cNvPr id="4" name="Text 2"/>
          <p:cNvSpPr/>
          <p:nvPr/>
        </p:nvSpPr>
        <p:spPr>
          <a:xfrm>
            <a:off x="487680" y="1219200"/>
            <a:ext cx="5364480" cy="463296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r>
              <a:rPr lang="en-US" sz="1867" b="1" noProof="0" dirty="0">
                <a:solidFill>
                  <a:srgbClr val="0D2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1867" noProof="0" dirty="0"/>
          </a:p>
        </p:txBody>
      </p:sp>
      <p:sp>
        <p:nvSpPr>
          <p:cNvPr id="5" name="Shape 3"/>
          <p:cNvSpPr/>
          <p:nvPr/>
        </p:nvSpPr>
        <p:spPr>
          <a:xfrm>
            <a:off x="487680" y="1816608"/>
            <a:ext cx="512064" cy="512064"/>
          </a:xfrm>
          <a:prstGeom prst="ellipse">
            <a:avLst/>
          </a:prstGeom>
          <a:solidFill>
            <a:srgbClr val="0D2B55"/>
          </a:solidFill>
          <a:ln w="12700">
            <a:solidFill>
              <a:srgbClr val="0D2B55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6" name="Text 4"/>
          <p:cNvSpPr/>
          <p:nvPr/>
        </p:nvSpPr>
        <p:spPr>
          <a:xfrm>
            <a:off x="487680" y="1816608"/>
            <a:ext cx="512064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/>
            <a:r>
              <a:rPr lang="en-US" sz="1467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</a:t>
            </a:r>
            <a:endParaRPr lang="en-US" sz="1467" noProof="0" dirty="0"/>
          </a:p>
        </p:txBody>
      </p:sp>
      <p:sp>
        <p:nvSpPr>
          <p:cNvPr id="7" name="Text 5"/>
          <p:cNvSpPr/>
          <p:nvPr/>
        </p:nvSpPr>
        <p:spPr>
          <a:xfrm>
            <a:off x="1097280" y="1767840"/>
            <a:ext cx="4754880" cy="633984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r>
              <a:rPr lang="en-US" sz="1600" noProof="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Router receives internet signal</a:t>
            </a:r>
            <a:endParaRPr lang="en-US" sz="1600" noProof="0" dirty="0"/>
          </a:p>
        </p:txBody>
      </p:sp>
      <p:sp>
        <p:nvSpPr>
          <p:cNvPr id="8" name="Shape 6"/>
          <p:cNvSpPr/>
          <p:nvPr/>
        </p:nvSpPr>
        <p:spPr>
          <a:xfrm>
            <a:off x="487680" y="2718816"/>
            <a:ext cx="512064" cy="512064"/>
          </a:xfrm>
          <a:prstGeom prst="ellipse">
            <a:avLst/>
          </a:prstGeom>
          <a:solidFill>
            <a:srgbClr val="00BCD4"/>
          </a:solidFill>
          <a:ln w="12700">
            <a:solidFill>
              <a:srgbClr val="00BCD4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9" name="Text 7"/>
          <p:cNvSpPr/>
          <p:nvPr/>
        </p:nvSpPr>
        <p:spPr>
          <a:xfrm>
            <a:off x="487680" y="2718816"/>
            <a:ext cx="512064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/>
            <a:r>
              <a:rPr lang="en-US" sz="1467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</a:t>
            </a:r>
            <a:endParaRPr lang="en-US" sz="1467" noProof="0" dirty="0"/>
          </a:p>
        </p:txBody>
      </p:sp>
      <p:sp>
        <p:nvSpPr>
          <p:cNvPr id="10" name="Text 8"/>
          <p:cNvSpPr/>
          <p:nvPr/>
        </p:nvSpPr>
        <p:spPr>
          <a:xfrm>
            <a:off x="1097280" y="2670048"/>
            <a:ext cx="4754880" cy="633984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r>
              <a:rPr lang="en-US" sz="1600" noProof="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PLC adapter injects high-freq. data signal onto power wiring</a:t>
            </a:r>
            <a:endParaRPr lang="en-US" sz="1600" noProof="0" dirty="0"/>
          </a:p>
        </p:txBody>
      </p:sp>
      <p:sp>
        <p:nvSpPr>
          <p:cNvPr id="11" name="Shape 9"/>
          <p:cNvSpPr/>
          <p:nvPr/>
        </p:nvSpPr>
        <p:spPr>
          <a:xfrm>
            <a:off x="487680" y="3621024"/>
            <a:ext cx="512064" cy="512064"/>
          </a:xfrm>
          <a:prstGeom prst="ellipse">
            <a:avLst/>
          </a:prstGeom>
          <a:solidFill>
            <a:srgbClr val="0D2B55"/>
          </a:solidFill>
          <a:ln w="12700">
            <a:solidFill>
              <a:srgbClr val="0D2B55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2" name="Text 10"/>
          <p:cNvSpPr/>
          <p:nvPr/>
        </p:nvSpPr>
        <p:spPr>
          <a:xfrm>
            <a:off x="487680" y="3621024"/>
            <a:ext cx="512064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/>
            <a:r>
              <a:rPr lang="en-US" sz="1467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</a:t>
            </a:r>
            <a:endParaRPr lang="en-US" sz="1467" noProof="0" dirty="0"/>
          </a:p>
        </p:txBody>
      </p:sp>
      <p:sp>
        <p:nvSpPr>
          <p:cNvPr id="13" name="Text 11"/>
          <p:cNvSpPr/>
          <p:nvPr/>
        </p:nvSpPr>
        <p:spPr>
          <a:xfrm>
            <a:off x="1097280" y="3572256"/>
            <a:ext cx="4754880" cy="633984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r>
              <a:rPr lang="en-US" sz="1600" noProof="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 travels through household electrical cables</a:t>
            </a:r>
            <a:endParaRPr lang="en-US" sz="1600" noProof="0" dirty="0"/>
          </a:p>
        </p:txBody>
      </p:sp>
      <p:sp>
        <p:nvSpPr>
          <p:cNvPr id="14" name="Shape 12"/>
          <p:cNvSpPr/>
          <p:nvPr/>
        </p:nvSpPr>
        <p:spPr>
          <a:xfrm>
            <a:off x="487680" y="4523232"/>
            <a:ext cx="512064" cy="512064"/>
          </a:xfrm>
          <a:prstGeom prst="ellipse">
            <a:avLst/>
          </a:prstGeom>
          <a:solidFill>
            <a:srgbClr val="00BCD4"/>
          </a:solidFill>
          <a:ln w="12700">
            <a:solidFill>
              <a:srgbClr val="00BCD4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5" name="Text 13"/>
          <p:cNvSpPr/>
          <p:nvPr/>
        </p:nvSpPr>
        <p:spPr>
          <a:xfrm>
            <a:off x="487680" y="4523232"/>
            <a:ext cx="512064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/>
            <a:r>
              <a:rPr lang="en-US" sz="1467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</a:t>
            </a:r>
            <a:endParaRPr lang="en-US" sz="1467" noProof="0" dirty="0"/>
          </a:p>
        </p:txBody>
      </p:sp>
      <p:sp>
        <p:nvSpPr>
          <p:cNvPr id="16" name="Text 14"/>
          <p:cNvSpPr/>
          <p:nvPr/>
        </p:nvSpPr>
        <p:spPr>
          <a:xfrm>
            <a:off x="1097280" y="4474464"/>
            <a:ext cx="4754880" cy="633984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r>
              <a:rPr lang="en-US" sz="1600" noProof="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Filtering separates data from power at receiving end</a:t>
            </a:r>
            <a:endParaRPr lang="en-US" sz="1600" noProof="0" dirty="0"/>
          </a:p>
        </p:txBody>
      </p:sp>
      <p:sp>
        <p:nvSpPr>
          <p:cNvPr id="17" name="Shape 15"/>
          <p:cNvSpPr/>
          <p:nvPr/>
        </p:nvSpPr>
        <p:spPr>
          <a:xfrm>
            <a:off x="487680" y="5425440"/>
            <a:ext cx="512064" cy="512064"/>
          </a:xfrm>
          <a:prstGeom prst="ellipse">
            <a:avLst/>
          </a:prstGeom>
          <a:solidFill>
            <a:srgbClr val="0D2B55"/>
          </a:solidFill>
          <a:ln w="12700">
            <a:solidFill>
              <a:srgbClr val="0D2B55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8" name="Text 16"/>
          <p:cNvSpPr/>
          <p:nvPr/>
        </p:nvSpPr>
        <p:spPr>
          <a:xfrm>
            <a:off x="487680" y="5425440"/>
            <a:ext cx="512064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/>
            <a:r>
              <a:rPr lang="en-US" sz="1467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⑤</a:t>
            </a:r>
            <a:endParaRPr lang="en-US" sz="1467" noProof="0" dirty="0"/>
          </a:p>
        </p:txBody>
      </p:sp>
      <p:sp>
        <p:nvSpPr>
          <p:cNvPr id="19" name="Text 17"/>
          <p:cNvSpPr/>
          <p:nvPr/>
        </p:nvSpPr>
        <p:spPr>
          <a:xfrm>
            <a:off x="1097280" y="5376672"/>
            <a:ext cx="4754880" cy="633984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r>
              <a:rPr lang="en-US" sz="1600" noProof="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Devices get network access — no new cables needed</a:t>
            </a:r>
            <a:endParaRPr lang="en-US" sz="1600" noProof="0" dirty="0"/>
          </a:p>
        </p:txBody>
      </p:sp>
      <p:sp>
        <p:nvSpPr>
          <p:cNvPr id="20" name="Text 18"/>
          <p:cNvSpPr/>
          <p:nvPr/>
        </p:nvSpPr>
        <p:spPr>
          <a:xfrm>
            <a:off x="487680" y="6400800"/>
            <a:ext cx="5120640" cy="268224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r>
              <a:rPr lang="en-US" sz="1200" i="1" noProof="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Based on [5] Ferreira et al., 1996</a:t>
            </a:r>
            <a:endParaRPr lang="en-US" sz="1200" noProof="0" dirty="0"/>
          </a:p>
        </p:txBody>
      </p:sp>
      <p:sp>
        <p:nvSpPr>
          <p:cNvPr id="21" name="Shape 19"/>
          <p:cNvSpPr/>
          <p:nvPr/>
        </p:nvSpPr>
        <p:spPr>
          <a:xfrm>
            <a:off x="7376160" y="1194816"/>
            <a:ext cx="2926080" cy="792480"/>
          </a:xfrm>
          <a:prstGeom prst="ellipse">
            <a:avLst/>
          </a:prstGeom>
          <a:solidFill>
            <a:srgbClr val="00BCD4">
              <a:alpha val="75000"/>
            </a:srgbClr>
          </a:solidFill>
          <a:ln w="12700">
            <a:solidFill>
              <a:srgbClr val="00BCD4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22" name="Text 20"/>
          <p:cNvSpPr/>
          <p:nvPr/>
        </p:nvSpPr>
        <p:spPr>
          <a:xfrm>
            <a:off x="7376160" y="1194816"/>
            <a:ext cx="2926080" cy="792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/>
            <a:r>
              <a:rPr lang="en-US" sz="1600" b="1" noProof="0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Internet</a:t>
            </a:r>
            <a:endParaRPr lang="en-US" sz="1600" noProof="0" dirty="0"/>
          </a:p>
        </p:txBody>
      </p:sp>
      <p:sp>
        <p:nvSpPr>
          <p:cNvPr id="23" name="Shape 21"/>
          <p:cNvSpPr/>
          <p:nvPr/>
        </p:nvSpPr>
        <p:spPr>
          <a:xfrm>
            <a:off x="8839200" y="1987296"/>
            <a:ext cx="0" cy="512064"/>
          </a:xfrm>
          <a:prstGeom prst="line">
            <a:avLst/>
          </a:prstGeom>
          <a:noFill/>
          <a:ln w="25400">
            <a:solidFill>
              <a:srgbClr val="0D2B55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24" name="Shape 22"/>
          <p:cNvSpPr/>
          <p:nvPr/>
        </p:nvSpPr>
        <p:spPr>
          <a:xfrm>
            <a:off x="7741920" y="2499360"/>
            <a:ext cx="2194560" cy="633984"/>
          </a:xfrm>
          <a:prstGeom prst="rect">
            <a:avLst/>
          </a:prstGeom>
          <a:solidFill>
            <a:srgbClr val="0D2B55"/>
          </a:solidFill>
          <a:ln w="12700">
            <a:solidFill>
              <a:srgbClr val="0D2B55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25" name="Text 23"/>
          <p:cNvSpPr/>
          <p:nvPr/>
        </p:nvSpPr>
        <p:spPr>
          <a:xfrm>
            <a:off x="7741920" y="2499360"/>
            <a:ext cx="2194560" cy="6339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/>
            <a:r>
              <a:rPr lang="en-US" sz="1467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Router</a:t>
            </a:r>
            <a:endParaRPr lang="en-US" sz="1467" noProof="0" dirty="0"/>
          </a:p>
        </p:txBody>
      </p:sp>
      <p:sp>
        <p:nvSpPr>
          <p:cNvPr id="26" name="Shape 24"/>
          <p:cNvSpPr/>
          <p:nvPr/>
        </p:nvSpPr>
        <p:spPr>
          <a:xfrm>
            <a:off x="8839200" y="3133344"/>
            <a:ext cx="0" cy="512064"/>
          </a:xfrm>
          <a:prstGeom prst="line">
            <a:avLst/>
          </a:prstGeom>
          <a:noFill/>
          <a:ln w="25400">
            <a:solidFill>
              <a:srgbClr val="0D2B55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27" name="Shape 25"/>
          <p:cNvSpPr/>
          <p:nvPr/>
        </p:nvSpPr>
        <p:spPr>
          <a:xfrm>
            <a:off x="7741920" y="3645408"/>
            <a:ext cx="2194560" cy="633984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28" name="Text 26"/>
          <p:cNvSpPr/>
          <p:nvPr/>
        </p:nvSpPr>
        <p:spPr>
          <a:xfrm>
            <a:off x="7741920" y="3645408"/>
            <a:ext cx="2194560" cy="6339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/>
            <a:r>
              <a:rPr lang="en-US" sz="1333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PLC Adapter (TX)</a:t>
            </a:r>
            <a:endParaRPr lang="en-US" sz="1333" noProof="0" dirty="0"/>
          </a:p>
        </p:txBody>
      </p:sp>
      <p:sp>
        <p:nvSpPr>
          <p:cNvPr id="29" name="Shape 27"/>
          <p:cNvSpPr/>
          <p:nvPr/>
        </p:nvSpPr>
        <p:spPr>
          <a:xfrm>
            <a:off x="8839200" y="4279392"/>
            <a:ext cx="0" cy="268224"/>
          </a:xfrm>
          <a:prstGeom prst="line">
            <a:avLst/>
          </a:prstGeom>
          <a:noFill/>
          <a:ln w="25400">
            <a:solidFill>
              <a:srgbClr val="0D2B55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30" name="Shape 28"/>
          <p:cNvSpPr/>
          <p:nvPr/>
        </p:nvSpPr>
        <p:spPr>
          <a:xfrm>
            <a:off x="6858001" y="4547447"/>
            <a:ext cx="4610100" cy="316653"/>
          </a:xfrm>
          <a:prstGeom prst="rect">
            <a:avLst/>
          </a:prstGeom>
          <a:solidFill>
            <a:srgbClr val="E65100">
              <a:alpha val="85000"/>
            </a:srgbClr>
          </a:solidFill>
          <a:ln w="12700">
            <a:solidFill>
              <a:srgbClr val="E6510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31" name="Text 29"/>
          <p:cNvSpPr/>
          <p:nvPr/>
        </p:nvSpPr>
        <p:spPr>
          <a:xfrm>
            <a:off x="6705600" y="4547616"/>
            <a:ext cx="5242560" cy="3169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/>
            <a:r>
              <a:rPr lang="en-US" sz="1200" noProof="0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 Power Line  (data + power)</a:t>
            </a:r>
            <a:endParaRPr lang="en-US" sz="1200" noProof="0" dirty="0"/>
          </a:p>
        </p:txBody>
      </p:sp>
      <p:sp>
        <p:nvSpPr>
          <p:cNvPr id="32" name="Shape 30"/>
          <p:cNvSpPr/>
          <p:nvPr/>
        </p:nvSpPr>
        <p:spPr>
          <a:xfrm>
            <a:off x="7620000" y="4864608"/>
            <a:ext cx="0" cy="512064"/>
          </a:xfrm>
          <a:prstGeom prst="line">
            <a:avLst/>
          </a:prstGeom>
          <a:noFill/>
          <a:ln w="25400">
            <a:solidFill>
              <a:srgbClr val="0D2B55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33" name="Shape 31"/>
          <p:cNvSpPr/>
          <p:nvPr/>
        </p:nvSpPr>
        <p:spPr>
          <a:xfrm>
            <a:off x="10363200" y="4864608"/>
            <a:ext cx="0" cy="512064"/>
          </a:xfrm>
          <a:prstGeom prst="line">
            <a:avLst/>
          </a:prstGeom>
          <a:noFill/>
          <a:ln w="25400">
            <a:solidFill>
              <a:srgbClr val="0D2B55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37" name="Shape 35"/>
          <p:cNvSpPr/>
          <p:nvPr/>
        </p:nvSpPr>
        <p:spPr>
          <a:xfrm>
            <a:off x="6827520" y="5376672"/>
            <a:ext cx="1584960" cy="585216"/>
          </a:xfrm>
          <a:prstGeom prst="rect">
            <a:avLst/>
          </a:prstGeom>
          <a:solidFill>
            <a:srgbClr val="00897B"/>
          </a:solidFill>
          <a:ln w="12700">
            <a:solidFill>
              <a:srgbClr val="00897B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38" name="Text 36"/>
          <p:cNvSpPr/>
          <p:nvPr/>
        </p:nvSpPr>
        <p:spPr>
          <a:xfrm>
            <a:off x="6827520" y="5376672"/>
            <a:ext cx="1584960" cy="5852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/>
            <a:r>
              <a:rPr lang="en-US" sz="1333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PLC (RX)</a:t>
            </a:r>
            <a:endParaRPr lang="en-US" sz="1333" noProof="0" dirty="0"/>
          </a:p>
        </p:txBody>
      </p:sp>
      <p:sp>
        <p:nvSpPr>
          <p:cNvPr id="39" name="Shape 37"/>
          <p:cNvSpPr/>
          <p:nvPr/>
        </p:nvSpPr>
        <p:spPr>
          <a:xfrm>
            <a:off x="9570720" y="5376672"/>
            <a:ext cx="1584960" cy="585216"/>
          </a:xfrm>
          <a:prstGeom prst="rect">
            <a:avLst/>
          </a:prstGeom>
          <a:solidFill>
            <a:srgbClr val="00897B"/>
          </a:solidFill>
          <a:ln w="12700">
            <a:solidFill>
              <a:srgbClr val="00897B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40" name="Text 38"/>
          <p:cNvSpPr/>
          <p:nvPr/>
        </p:nvSpPr>
        <p:spPr>
          <a:xfrm>
            <a:off x="9570720" y="5376672"/>
            <a:ext cx="1584960" cy="5852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/>
            <a:r>
              <a:rPr lang="en-US" sz="1333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PLC (RX)</a:t>
            </a:r>
            <a:endParaRPr lang="en-US" sz="1333" noProof="0" dirty="0"/>
          </a:p>
        </p:txBody>
      </p:sp>
      <p:sp>
        <p:nvSpPr>
          <p:cNvPr id="41" name="Text 39"/>
          <p:cNvSpPr/>
          <p:nvPr/>
        </p:nvSpPr>
        <p:spPr>
          <a:xfrm>
            <a:off x="6827520" y="6035040"/>
            <a:ext cx="158496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ctr"/>
            <a:r>
              <a:rPr lang="en-US" sz="1333" noProof="0" dirty="0">
                <a:solidFill>
                  <a:srgbClr val="0D2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TV</a:t>
            </a:r>
            <a:endParaRPr lang="en-US" sz="1333" noProof="0" dirty="0"/>
          </a:p>
        </p:txBody>
      </p:sp>
      <p:sp>
        <p:nvSpPr>
          <p:cNvPr id="42" name="Text 40"/>
          <p:cNvSpPr/>
          <p:nvPr/>
        </p:nvSpPr>
        <p:spPr>
          <a:xfrm>
            <a:off x="9570720" y="6035040"/>
            <a:ext cx="158496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ctr"/>
            <a:r>
              <a:rPr lang="en-US" sz="1333" noProof="0" dirty="0">
                <a:solidFill>
                  <a:srgbClr val="0D2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IoT / PC</a:t>
            </a:r>
            <a:endParaRPr lang="en-US" sz="1333" noProof="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36320"/>
          </a:xfrm>
          <a:prstGeom prst="rect">
            <a:avLst/>
          </a:prstGeom>
          <a:solidFill>
            <a:srgbClr val="0D2B55"/>
          </a:solidFill>
          <a:ln w="12700">
            <a:solidFill>
              <a:srgbClr val="0D2B55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3" name="Text 1"/>
          <p:cNvSpPr/>
          <p:nvPr/>
        </p:nvSpPr>
        <p:spPr>
          <a:xfrm>
            <a:off x="4330700" y="-48260"/>
            <a:ext cx="3369733" cy="1036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r>
              <a:rPr lang="en-US" sz="28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PLC vs. Wi-Fi </a:t>
            </a:r>
            <a:endParaRPr lang="en-US" sz="2800" noProof="0" dirty="0"/>
          </a:p>
        </p:txBody>
      </p:sp>
      <p:sp>
        <p:nvSpPr>
          <p:cNvPr id="4" name="Shape 2"/>
          <p:cNvSpPr/>
          <p:nvPr/>
        </p:nvSpPr>
        <p:spPr>
          <a:xfrm>
            <a:off x="2302934" y="1219201"/>
            <a:ext cx="1429173" cy="585047"/>
          </a:xfrm>
          <a:prstGeom prst="rect">
            <a:avLst/>
          </a:prstGeom>
          <a:solidFill>
            <a:srgbClr val="00897B"/>
          </a:solidFill>
          <a:ln w="12700">
            <a:solidFill>
              <a:srgbClr val="00897B"/>
            </a:solidFill>
            <a:prstDash val="solid"/>
          </a:ln>
        </p:spPr>
        <p:txBody>
          <a:bodyPr/>
          <a:lstStyle/>
          <a:p>
            <a:endParaRPr lang="en-US" sz="2400" noProof="0" dirty="0"/>
          </a:p>
        </p:txBody>
      </p:sp>
      <p:sp>
        <p:nvSpPr>
          <p:cNvPr id="5" name="Text 3"/>
          <p:cNvSpPr/>
          <p:nvPr/>
        </p:nvSpPr>
        <p:spPr>
          <a:xfrm>
            <a:off x="365760" y="1219200"/>
            <a:ext cx="5303520" cy="585216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ctr"/>
            <a:r>
              <a:rPr lang="en-US" sz="20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PLC </a:t>
            </a:r>
            <a:endParaRPr lang="en-US" sz="2000" noProof="0" dirty="0"/>
          </a:p>
        </p:txBody>
      </p:sp>
      <p:sp>
        <p:nvSpPr>
          <p:cNvPr id="21" name="Shape 16"/>
          <p:cNvSpPr/>
          <p:nvPr/>
        </p:nvSpPr>
        <p:spPr>
          <a:xfrm>
            <a:off x="8161021" y="1219201"/>
            <a:ext cx="2307167" cy="585047"/>
          </a:xfrm>
          <a:prstGeom prst="rect">
            <a:avLst/>
          </a:prstGeom>
          <a:solidFill>
            <a:srgbClr val="0D47A1"/>
          </a:solidFill>
          <a:ln w="12700">
            <a:solidFill>
              <a:srgbClr val="0D47A1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22" name="Text 17"/>
          <p:cNvSpPr/>
          <p:nvPr/>
        </p:nvSpPr>
        <p:spPr>
          <a:xfrm>
            <a:off x="6522720" y="1219200"/>
            <a:ext cx="5303520" cy="585216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ctr"/>
            <a:r>
              <a:rPr lang="en-US" sz="20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Wi-Fi </a:t>
            </a:r>
            <a:endParaRPr lang="en-US" sz="2000" noProof="0" dirty="0"/>
          </a:p>
        </p:txBody>
      </p:sp>
      <p:sp>
        <p:nvSpPr>
          <p:cNvPr id="33" name="Shape 26"/>
          <p:cNvSpPr/>
          <p:nvPr/>
        </p:nvSpPr>
        <p:spPr>
          <a:xfrm>
            <a:off x="6120384" y="1219200"/>
            <a:ext cx="0" cy="4462272"/>
          </a:xfrm>
          <a:prstGeom prst="line">
            <a:avLst/>
          </a:prstGeom>
          <a:noFill/>
          <a:ln w="19050">
            <a:solidFill>
              <a:srgbClr val="ECF0F1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pic>
        <p:nvPicPr>
          <p:cNvPr id="39" name="Picture 38" descr="Screenshot 2026-06-08 at 12.40.4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1707" y="1987127"/>
            <a:ext cx="4853940" cy="3551767"/>
          </a:xfrm>
          <a:prstGeom prst="rect">
            <a:avLst/>
          </a:prstGeom>
        </p:spPr>
      </p:pic>
      <p:pic>
        <p:nvPicPr>
          <p:cNvPr id="40" name="Picture 39" descr="Screenshot 2026-06-08 at 13.04.3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29174" y="2234354"/>
            <a:ext cx="4078393" cy="3414607"/>
          </a:xfrm>
          <a:prstGeom prst="rect">
            <a:avLst/>
          </a:prstGeom>
        </p:spPr>
      </p:pic>
      <p:sp>
        <p:nvSpPr>
          <p:cNvPr id="41" name="Text Box 40"/>
          <p:cNvSpPr txBox="1"/>
          <p:nvPr/>
        </p:nvSpPr>
        <p:spPr>
          <a:xfrm>
            <a:off x="173567" y="5681133"/>
            <a:ext cx="5946987" cy="78232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r>
              <a:rPr lang="en-US" sz="1067" noProof="0" dirty="0"/>
              <a:t>https://bit-electronix.eu/STRONG-POWERL1000WFDUOEUV2-Powerline-Adapter-1000-Mbit-s-HomePlug-AV2-mit-WLAN-Wi-Fi-5-Gigabit-Ethernet-Eingebaute-Steckdose-2er-Pack-Weiss/POWERL1000WFDUOEUV2-B?srsltid=AfmBOorKLFhGo9cOX4sqe6Q-D7m39huLvb1pVorQQd23vnpV79ju-zYB</a:t>
            </a:r>
          </a:p>
        </p:txBody>
      </p:sp>
      <p:sp>
        <p:nvSpPr>
          <p:cNvPr id="42" name="Text Box 41"/>
          <p:cNvSpPr txBox="1"/>
          <p:nvPr/>
        </p:nvSpPr>
        <p:spPr>
          <a:xfrm>
            <a:off x="6260254" y="5721774"/>
            <a:ext cx="5726007" cy="420756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US" sz="1067" noProof="0" dirty="0"/>
              <a:t>https://img.magnific.com/premium-photo/new-wifi-router-white-wooden-table-against-brick-wall-space-text_495423-56020.jpg?semt=ais_hybrid&amp;w=740&amp;q=80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Screenshot 2026-06-08 at 12.35.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7022" y="1167857"/>
            <a:ext cx="8966044" cy="5053529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0" y="0"/>
            <a:ext cx="12192000" cy="1036320"/>
          </a:xfrm>
          <a:prstGeom prst="rect">
            <a:avLst/>
          </a:prstGeom>
          <a:solidFill>
            <a:srgbClr val="0D2B55"/>
          </a:solidFill>
          <a:ln w="12700">
            <a:solidFill>
              <a:srgbClr val="0D2B55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5" name="Text 1"/>
          <p:cNvSpPr/>
          <p:nvPr/>
        </p:nvSpPr>
        <p:spPr>
          <a:xfrm>
            <a:off x="3630357" y="0"/>
            <a:ext cx="4931286" cy="1036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r>
              <a:rPr lang="en-US" sz="32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Mixed-medium applications</a:t>
            </a:r>
            <a:endParaRPr lang="en-US" sz="3200" noProof="0" dirty="0"/>
          </a:p>
        </p:txBody>
      </p:sp>
      <p:sp>
        <p:nvSpPr>
          <p:cNvPr id="6" name="Text Box 5"/>
          <p:cNvSpPr txBox="1"/>
          <p:nvPr/>
        </p:nvSpPr>
        <p:spPr>
          <a:xfrm>
            <a:off x="6380044" y="6352923"/>
            <a:ext cx="6989233" cy="420756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US" sz="1067" noProof="0" dirty="0"/>
              <a:t>https://www.coolblue.de/beratung/was-ist-ein-powerline-adapter.html?srsltid=AfmBOoqSkLL6MXCIGVrYFFz0zFCm3wwPmQHnD2SPEzxj-_4C2faRWMKj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4211D9-839E-422F-65AC-B1F1BB70CD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hape 0">
            <a:extLst>
              <a:ext uri="{FF2B5EF4-FFF2-40B4-BE49-F238E27FC236}">
                <a16:creationId xmlns:a16="http://schemas.microsoft.com/office/drawing/2014/main" id="{9B4ADDC9-5C47-2471-E4B6-460468C3A7D9}"/>
              </a:ext>
            </a:extLst>
          </p:cNvPr>
          <p:cNvSpPr/>
          <p:nvPr/>
        </p:nvSpPr>
        <p:spPr>
          <a:xfrm>
            <a:off x="0" y="0"/>
            <a:ext cx="12192000" cy="1036320"/>
          </a:xfrm>
          <a:prstGeom prst="rect">
            <a:avLst/>
          </a:prstGeom>
          <a:solidFill>
            <a:srgbClr val="0D2B55"/>
          </a:solidFill>
          <a:ln w="12700">
            <a:solidFill>
              <a:srgbClr val="0D2B55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0" name="Text 1">
            <a:extLst>
              <a:ext uri="{FF2B5EF4-FFF2-40B4-BE49-F238E27FC236}">
                <a16:creationId xmlns:a16="http://schemas.microsoft.com/office/drawing/2014/main" id="{6CF03165-C5FE-0F35-9127-255523EDBC41}"/>
              </a:ext>
            </a:extLst>
          </p:cNvPr>
          <p:cNvSpPr/>
          <p:nvPr/>
        </p:nvSpPr>
        <p:spPr>
          <a:xfrm>
            <a:off x="3772775" y="0"/>
            <a:ext cx="7072207" cy="1036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r>
              <a:rPr lang="en-US" sz="40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Industrial Applications</a:t>
            </a:r>
            <a:endParaRPr lang="en-US" sz="4000" noProof="0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23D95659-A799-BBC4-667C-1F71569DAA3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43608" y="1885801"/>
            <a:ext cx="5136772" cy="4097904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E922B24F-69D2-F9F2-614A-EEE90E1918F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0233" y="2578518"/>
            <a:ext cx="5175767" cy="3529763"/>
          </a:xfrm>
          <a:prstGeom prst="rect">
            <a:avLst/>
          </a:prstGeom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16D306BC-6D0B-3DDF-7AC2-42BBB0985A5E}"/>
              </a:ext>
            </a:extLst>
          </p:cNvPr>
          <p:cNvSpPr txBox="1">
            <a:spLocks/>
          </p:cNvSpPr>
          <p:nvPr/>
        </p:nvSpPr>
        <p:spPr>
          <a:xfrm>
            <a:off x="496529" y="749719"/>
            <a:ext cx="11695471" cy="1586411"/>
          </a:xfrm>
          <a:prstGeom prst="rect">
            <a:avLst/>
          </a:prstGeom>
          <a:noFill/>
          <a:ln>
            <a:solidFill>
              <a:schemeClr val="accent1"/>
            </a:solidFill>
          </a:ln>
          <a:effectLst>
            <a:softEdge rad="63500"/>
          </a:effectLst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noProof="0" dirty="0"/>
              <a:t>The main problem – heavy machinery, which causes interference.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79B6283-FEF6-1C47-4FCB-EE0E33E5780E}"/>
              </a:ext>
            </a:extLst>
          </p:cNvPr>
          <p:cNvSpPr txBox="1"/>
          <p:nvPr/>
        </p:nvSpPr>
        <p:spPr>
          <a:xfrm>
            <a:off x="0" y="6457890"/>
            <a:ext cx="12192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S. C. Pereira, A. S. Caporali, and I. R. S. Casella, ‘Power line communication technology in industrial networks’, 2015 IEEE International Symposium on Power Line Communications and Its Applications, ISPLC 2015, pp. 216–221, Jul. 2015, </a:t>
            </a:r>
            <a:r>
              <a:rPr lang="en-US" sz="1000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doi</a:t>
            </a:r>
            <a:r>
              <a:rPr lang="en-US" sz="10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: 10.1109/ISPLC.2015.7147617.</a:t>
            </a:r>
          </a:p>
        </p:txBody>
      </p:sp>
    </p:spTree>
    <p:extLst>
      <p:ext uri="{BB962C8B-B14F-4D97-AF65-F5344CB8AC3E}">
        <p14:creationId xmlns:p14="http://schemas.microsoft.com/office/powerpoint/2010/main" val="384460051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377C57-FBD4-A710-ED5C-9814195AE3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49F8D00B-0F5E-096B-AE82-57046DC86E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7617"/>
          <a:stretch>
            <a:fillRect/>
          </a:stretch>
        </p:blipFill>
        <p:spPr>
          <a:xfrm>
            <a:off x="6915875" y="3483572"/>
            <a:ext cx="3245530" cy="2957878"/>
          </a:xfrm>
          <a:prstGeom prst="rect">
            <a:avLst/>
          </a:prstGeom>
        </p:spPr>
      </p:pic>
      <p:sp>
        <p:nvSpPr>
          <p:cNvPr id="8" name="Shape 0">
            <a:extLst>
              <a:ext uri="{FF2B5EF4-FFF2-40B4-BE49-F238E27FC236}">
                <a16:creationId xmlns:a16="http://schemas.microsoft.com/office/drawing/2014/main" id="{02569A7D-1D48-254F-CFF4-E4D7E84C12AC}"/>
              </a:ext>
            </a:extLst>
          </p:cNvPr>
          <p:cNvSpPr/>
          <p:nvPr/>
        </p:nvSpPr>
        <p:spPr>
          <a:xfrm>
            <a:off x="0" y="0"/>
            <a:ext cx="12192000" cy="1036320"/>
          </a:xfrm>
          <a:prstGeom prst="rect">
            <a:avLst/>
          </a:prstGeom>
          <a:solidFill>
            <a:srgbClr val="0D2B55"/>
          </a:solidFill>
          <a:ln w="12700">
            <a:solidFill>
              <a:srgbClr val="0D2B55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0" name="Text 1">
            <a:extLst>
              <a:ext uri="{FF2B5EF4-FFF2-40B4-BE49-F238E27FC236}">
                <a16:creationId xmlns:a16="http://schemas.microsoft.com/office/drawing/2014/main" id="{3C31C49B-8BC9-5D88-63FA-43CCC21800E4}"/>
              </a:ext>
            </a:extLst>
          </p:cNvPr>
          <p:cNvSpPr/>
          <p:nvPr/>
        </p:nvSpPr>
        <p:spPr>
          <a:xfrm>
            <a:off x="2030594" y="14514"/>
            <a:ext cx="8130811" cy="1036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r>
              <a:rPr lang="en-US" sz="40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Study – PWM Motor Loop Back</a:t>
            </a:r>
            <a:endParaRPr lang="en-US" sz="4000" noProof="0"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7282765E-73D1-792A-C044-1F348FFC84A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51944"/>
          <a:stretch>
            <a:fillRect/>
          </a:stretch>
        </p:blipFill>
        <p:spPr>
          <a:xfrm>
            <a:off x="6513093" y="1136027"/>
            <a:ext cx="4459705" cy="2407274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D29BF788-CCEA-1CAB-FEE1-5894F8B89DD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50741"/>
          <a:stretch>
            <a:fillRect/>
          </a:stretch>
        </p:blipFill>
        <p:spPr>
          <a:xfrm>
            <a:off x="1154533" y="3200268"/>
            <a:ext cx="3352687" cy="2873293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4A938162-164B-8B8C-525A-06426B1C671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3138" y="1254151"/>
            <a:ext cx="5245770" cy="1742800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34046425-70BD-CDB6-FEA4-54D1E277E11C}"/>
              </a:ext>
            </a:extLst>
          </p:cNvPr>
          <p:cNvSpPr txBox="1"/>
          <p:nvPr/>
        </p:nvSpPr>
        <p:spPr>
          <a:xfrm>
            <a:off x="0" y="6441450"/>
            <a:ext cx="12192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N. Ginot, M. A. Mannah, C. Batard, and M. </a:t>
            </a:r>
            <a:r>
              <a:rPr lang="en-US" sz="1000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Machmoum</a:t>
            </a:r>
            <a:r>
              <a:rPr lang="en-US" sz="10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, ‘Application of Power Line Communication for Data Transmission Over PWM Network’, IEEE Trans Smart Grid, vol. 1, no. 2, pp. 178–185, Sep. 2010, </a:t>
            </a:r>
            <a:r>
              <a:rPr lang="en-US" sz="1000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doi</a:t>
            </a:r>
            <a:r>
              <a:rPr lang="en-US" sz="10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: 10.1109/TSG.2010.2053225.</a:t>
            </a:r>
          </a:p>
        </p:txBody>
      </p:sp>
    </p:spTree>
    <p:extLst>
      <p:ext uri="{BB962C8B-B14F-4D97-AF65-F5344CB8AC3E}">
        <p14:creationId xmlns:p14="http://schemas.microsoft.com/office/powerpoint/2010/main" val="108723124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E7D5E2-7954-3E9C-8712-22F3F35716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hape 0">
            <a:extLst>
              <a:ext uri="{FF2B5EF4-FFF2-40B4-BE49-F238E27FC236}">
                <a16:creationId xmlns:a16="http://schemas.microsoft.com/office/drawing/2014/main" id="{B8D15EE3-6C9F-FA9A-3989-72C7E52AF0C4}"/>
              </a:ext>
            </a:extLst>
          </p:cNvPr>
          <p:cNvSpPr/>
          <p:nvPr/>
        </p:nvSpPr>
        <p:spPr>
          <a:xfrm>
            <a:off x="0" y="0"/>
            <a:ext cx="12192000" cy="1036320"/>
          </a:xfrm>
          <a:prstGeom prst="rect">
            <a:avLst/>
          </a:prstGeom>
          <a:solidFill>
            <a:srgbClr val="0D2B55"/>
          </a:solidFill>
          <a:ln w="12700">
            <a:solidFill>
              <a:srgbClr val="0D2B55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52625163-C954-E04B-D253-2B65B2E0A6E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49785" y="1065348"/>
            <a:ext cx="3696560" cy="2135995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B04858A6-8DDF-C8B0-5111-C9A4C91B0B9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53547"/>
          <a:stretch>
            <a:fillRect/>
          </a:stretch>
        </p:blipFill>
        <p:spPr>
          <a:xfrm>
            <a:off x="1779551" y="3531875"/>
            <a:ext cx="3472363" cy="2829805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83CBA139-5DA8-9940-707A-0659EF0ED5F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10434" y="1036320"/>
            <a:ext cx="2810598" cy="2415785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5BEE74AD-E78C-8B99-89E3-C5A305DD679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6242"/>
          <a:stretch>
            <a:fillRect/>
          </a:stretch>
        </p:blipFill>
        <p:spPr>
          <a:xfrm>
            <a:off x="6461883" y="3126818"/>
            <a:ext cx="3472363" cy="3274747"/>
          </a:xfrm>
          <a:prstGeom prst="rect">
            <a:avLst/>
          </a:prstGeom>
        </p:spPr>
      </p:pic>
      <p:sp>
        <p:nvSpPr>
          <p:cNvPr id="13" name="Text 1">
            <a:extLst>
              <a:ext uri="{FF2B5EF4-FFF2-40B4-BE49-F238E27FC236}">
                <a16:creationId xmlns:a16="http://schemas.microsoft.com/office/drawing/2014/main" id="{33068876-1101-0B93-76AF-0074D4342422}"/>
              </a:ext>
            </a:extLst>
          </p:cNvPr>
          <p:cNvSpPr/>
          <p:nvPr/>
        </p:nvSpPr>
        <p:spPr>
          <a:xfrm>
            <a:off x="2030594" y="14514"/>
            <a:ext cx="8130811" cy="1036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r>
              <a:rPr lang="en-US" sz="40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Study – PWM Motor Loop Back</a:t>
            </a:r>
            <a:endParaRPr lang="en-US" sz="4000" noProof="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4BACBCE-3A35-AE3F-44F9-5E67186D0D80}"/>
              </a:ext>
            </a:extLst>
          </p:cNvPr>
          <p:cNvSpPr txBox="1"/>
          <p:nvPr/>
        </p:nvSpPr>
        <p:spPr>
          <a:xfrm>
            <a:off x="0" y="6441450"/>
            <a:ext cx="12192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N. Ginot, M. A. Mannah, C. Batard, and M. </a:t>
            </a:r>
            <a:r>
              <a:rPr lang="en-US" sz="1000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Machmoum</a:t>
            </a:r>
            <a:r>
              <a:rPr lang="en-US" sz="10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, ‘Application of Power Line Communication for Data Transmission Over PWM Network’, IEEE Trans Smart Grid, vol. 1, no. 2, pp. 178–185, Sep. 2010, </a:t>
            </a:r>
            <a:r>
              <a:rPr lang="en-US" sz="1000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doi</a:t>
            </a:r>
            <a:r>
              <a:rPr lang="en-US" sz="10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: 10.1109/TSG.2010.2053225.</a:t>
            </a:r>
          </a:p>
        </p:txBody>
      </p:sp>
    </p:spTree>
    <p:extLst>
      <p:ext uri="{BB962C8B-B14F-4D97-AF65-F5344CB8AC3E}">
        <p14:creationId xmlns:p14="http://schemas.microsoft.com/office/powerpoint/2010/main" val="46427886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22F567-7178-FB93-8151-3FC9875383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hape 0">
            <a:extLst>
              <a:ext uri="{FF2B5EF4-FFF2-40B4-BE49-F238E27FC236}">
                <a16:creationId xmlns:a16="http://schemas.microsoft.com/office/drawing/2014/main" id="{A69CBAEA-3582-775E-B470-B4101458D659}"/>
              </a:ext>
            </a:extLst>
          </p:cNvPr>
          <p:cNvSpPr/>
          <p:nvPr/>
        </p:nvSpPr>
        <p:spPr>
          <a:xfrm>
            <a:off x="0" y="0"/>
            <a:ext cx="12192000" cy="1036320"/>
          </a:xfrm>
          <a:prstGeom prst="rect">
            <a:avLst/>
          </a:prstGeom>
          <a:solidFill>
            <a:srgbClr val="0D2B55"/>
          </a:solidFill>
          <a:ln w="12700">
            <a:solidFill>
              <a:srgbClr val="0D2B55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0" name="Text 1">
            <a:extLst>
              <a:ext uri="{FF2B5EF4-FFF2-40B4-BE49-F238E27FC236}">
                <a16:creationId xmlns:a16="http://schemas.microsoft.com/office/drawing/2014/main" id="{88F7CAA1-A00B-00EA-89F8-432ACBF1F723}"/>
              </a:ext>
            </a:extLst>
          </p:cNvPr>
          <p:cNvSpPr/>
          <p:nvPr/>
        </p:nvSpPr>
        <p:spPr>
          <a:xfrm>
            <a:off x="3772775" y="0"/>
            <a:ext cx="7072207" cy="1036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r>
              <a:rPr lang="en-US" sz="40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Industrial Applications</a:t>
            </a:r>
            <a:endParaRPr lang="en-US" sz="4000" noProof="0"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4E952877-4B6A-94C1-A7EB-85A2F4BA89B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3413" y="1327377"/>
            <a:ext cx="4956188" cy="2849494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F17E45E0-973F-BFF4-70A7-A7B1A9833BE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02401" y="1532924"/>
            <a:ext cx="4695825" cy="2438400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6BB19DD8-A051-0EB3-CB52-B113F4D0A3B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02401" y="4467928"/>
            <a:ext cx="4619625" cy="1619250"/>
          </a:xfrm>
          <a:prstGeom prst="rect">
            <a:avLst/>
          </a:prstGeom>
        </p:spPr>
      </p:pic>
      <p:sp>
        <p:nvSpPr>
          <p:cNvPr id="13" name="Title 1">
            <a:extLst>
              <a:ext uri="{FF2B5EF4-FFF2-40B4-BE49-F238E27FC236}">
                <a16:creationId xmlns:a16="http://schemas.microsoft.com/office/drawing/2014/main" id="{53DB5ACA-BA77-9430-814F-980489798C1E}"/>
              </a:ext>
            </a:extLst>
          </p:cNvPr>
          <p:cNvSpPr txBox="1">
            <a:spLocks/>
          </p:cNvSpPr>
          <p:nvPr/>
        </p:nvSpPr>
        <p:spPr>
          <a:xfrm>
            <a:off x="422436" y="4737417"/>
            <a:ext cx="5673564" cy="1586411"/>
          </a:xfrm>
          <a:prstGeom prst="rect">
            <a:avLst/>
          </a:prstGeom>
          <a:noFill/>
          <a:ln>
            <a:solidFill>
              <a:schemeClr val="accent1"/>
            </a:solidFill>
          </a:ln>
          <a:effectLst>
            <a:softEdge rad="63500"/>
          </a:effectLst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noProof="0" dirty="0"/>
              <a:t>And even though authors manage to make it work, the decrease of the data rate with higher PWM operating voltages and load current still significant. 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ACCB35B-B049-3364-68AB-89015F18C896}"/>
              </a:ext>
            </a:extLst>
          </p:cNvPr>
          <p:cNvSpPr txBox="1"/>
          <p:nvPr/>
        </p:nvSpPr>
        <p:spPr>
          <a:xfrm>
            <a:off x="0" y="6441450"/>
            <a:ext cx="12192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N. Ginot, M. A. Mannah, C. Batard, and M. </a:t>
            </a:r>
            <a:r>
              <a:rPr lang="en-US" sz="1000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Machmoum</a:t>
            </a:r>
            <a:r>
              <a:rPr lang="en-US" sz="10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, ‘Application of Power Line Communication for Data Transmission Over PWM Network’, IEEE Trans Smart Grid, vol. 1, no. 2, pp. 178–185, Sep. 2010, </a:t>
            </a:r>
            <a:r>
              <a:rPr lang="en-US" sz="1000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doi</a:t>
            </a:r>
            <a:r>
              <a:rPr lang="en-US" sz="10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: 10.1109/TSG.2010.2053225.</a:t>
            </a:r>
          </a:p>
        </p:txBody>
      </p:sp>
    </p:spTree>
    <p:extLst>
      <p:ext uri="{BB962C8B-B14F-4D97-AF65-F5344CB8AC3E}">
        <p14:creationId xmlns:p14="http://schemas.microsoft.com/office/powerpoint/2010/main" val="171058258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605D4CD-1827-7BFE-EEBE-8AECB2193B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485" y="-544286"/>
            <a:ext cx="12192000" cy="74022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301426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631</Words>
  <Application>Microsoft Office PowerPoint</Application>
  <PresentationFormat>Widescreen</PresentationFormat>
  <Paragraphs>61</Paragraphs>
  <Slides>15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0" baseType="lpstr">
      <vt:lpstr>Aptos</vt:lpstr>
      <vt:lpstr>Aptos Display</vt:lpstr>
      <vt:lpstr>Arial</vt:lpstr>
      <vt:lpstr>Calibri</vt:lpstr>
      <vt:lpstr>Office Theme</vt:lpstr>
      <vt:lpstr>Power Line Communication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Petr Lavrenov</dc:creator>
  <cp:lastModifiedBy>Petr Lavrenov</cp:lastModifiedBy>
  <cp:revision>3</cp:revision>
  <dcterms:created xsi:type="dcterms:W3CDTF">2026-06-09T08:09:05Z</dcterms:created>
  <dcterms:modified xsi:type="dcterms:W3CDTF">2026-06-09T19:20:34Z</dcterms:modified>
</cp:coreProperties>
</file>